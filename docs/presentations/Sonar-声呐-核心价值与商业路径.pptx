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mp4" ContentType="video/mp4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d7f7eee6624bdb" /><Relationship Type="http://schemas.openxmlformats.org/officeDocument/2006/relationships/extended-properties" Target="/docProps/app.xml" Id="R05eac3ee8d704472" /><Relationship Type="http://schemas.openxmlformats.org/officeDocument/2006/relationships/officeDocument" Target="/ppt/presentation.xml" Id="R5d16354c89e740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454d6e1464c6c"/>
  </p:sldMasterIdLst>
  <p:notesMasterIdLst>
    <p:notesMasterId xmlns:r="http://schemas.openxmlformats.org/officeDocument/2006/relationships" r:id="R37f72870c0af443e"/>
  </p:notesMasterIdLst>
  <p:sldIdLst>
    <p:sldId xmlns:r="http://schemas.openxmlformats.org/officeDocument/2006/relationships" id="256" r:id="Rc1f624dd6fea4ff3"/>
    <p:sldId xmlns:r="http://schemas.openxmlformats.org/officeDocument/2006/relationships" id="257" r:id="Rf2c9ad5fa6d04ada"/>
    <p:sldId xmlns:r="http://schemas.openxmlformats.org/officeDocument/2006/relationships" id="258" r:id="R5ab1d2f9968846c9"/>
    <p:sldId xmlns:r="http://schemas.openxmlformats.org/officeDocument/2006/relationships" id="259" r:id="R13fbc4033d754a26"/>
    <p:sldId xmlns:r="http://schemas.openxmlformats.org/officeDocument/2006/relationships" id="260" r:id="R158c68193f9b41c2"/>
    <p:sldId xmlns:r="http://schemas.openxmlformats.org/officeDocument/2006/relationships" id="261" r:id="R4765ebc84d934c56"/>
    <p:sldId xmlns:r="http://schemas.openxmlformats.org/officeDocument/2006/relationships" id="262" r:id="R108736dc38e447ea"/>
    <p:sldId xmlns:r="http://schemas.openxmlformats.org/officeDocument/2006/relationships" id="263" r:id="R6b02d18e6bf040a0"/>
    <p:sldId xmlns:r="http://schemas.openxmlformats.org/officeDocument/2006/relationships" id="264" r:id="Rbd6d5b92e5724a04"/>
    <p:sldId xmlns:r="http://schemas.openxmlformats.org/officeDocument/2006/relationships" id="265" r:id="R09021d0fad5a413c"/>
    <p:sldId xmlns:r="http://schemas.openxmlformats.org/officeDocument/2006/relationships" id="266" r:id="R2b6a2ea4a18c4bd6"/>
    <p:sldId xmlns:r="http://schemas.openxmlformats.org/officeDocument/2006/relationships" id="267" r:id="Re7c6dfe65d1c4f1c"/>
    <p:sldId xmlns:r="http://schemas.openxmlformats.org/officeDocument/2006/relationships" id="268" r:id="Rc2fe6b488dc747ca"/>
    <p:sldId xmlns:r="http://schemas.openxmlformats.org/officeDocument/2006/relationships" id="269" r:id="R3fca3033bab7464f"/>
    <p:sldId xmlns:r="http://schemas.openxmlformats.org/officeDocument/2006/relationships" id="270" r:id="R9103e2aef141446d"/>
    <p:sldId xmlns:r="http://schemas.openxmlformats.org/officeDocument/2006/relationships" id="271" r:id="Rca0ba2ec588a453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bbdc36f984441d" /><Relationship Type="http://schemas.openxmlformats.org/officeDocument/2006/relationships/slideMaster" Target="/ppt/slideMasters/slideMaster1.xml" Id="Ra1b454d6e1464c6c" /><Relationship Type="http://schemas.openxmlformats.org/officeDocument/2006/relationships/notesMaster" Target="/ppt/notesMasters/notesMaster1.xml" Id="R37f72870c0af443e" /><Relationship Type="http://schemas.openxmlformats.org/officeDocument/2006/relationships/presProps" Target="/ppt/presProps.xml" Id="Reb708cdd17134f26" /><Relationship Type="http://schemas.openxmlformats.org/officeDocument/2006/relationships/tableStyles" Target="/ppt/tableStyles.xml" Id="R8271080db5c6429f" /><Relationship Type="http://schemas.openxmlformats.org/officeDocument/2006/relationships/slide" Target="/ppt/slides/slide1.xml" Id="Rc1f624dd6fea4ff3" /><Relationship Type="http://schemas.openxmlformats.org/officeDocument/2006/relationships/slide" Target="/ppt/slides/slide2.xml" Id="Rf2c9ad5fa6d04ada" /><Relationship Type="http://schemas.openxmlformats.org/officeDocument/2006/relationships/slide" Target="/ppt/slides/slide3.xml" Id="R5ab1d2f9968846c9" /><Relationship Type="http://schemas.openxmlformats.org/officeDocument/2006/relationships/slide" Target="/ppt/slides/slide4.xml" Id="R13fbc4033d754a26" /><Relationship Type="http://schemas.openxmlformats.org/officeDocument/2006/relationships/slide" Target="/ppt/slides/slide5.xml" Id="R158c68193f9b41c2" /><Relationship Type="http://schemas.openxmlformats.org/officeDocument/2006/relationships/slide" Target="/ppt/slides/slide6.xml" Id="R4765ebc84d934c56" /><Relationship Type="http://schemas.openxmlformats.org/officeDocument/2006/relationships/slide" Target="/ppt/slides/slide7.xml" Id="R108736dc38e447ea" /><Relationship Type="http://schemas.openxmlformats.org/officeDocument/2006/relationships/slide" Target="/ppt/slides/slide8.xml" Id="R6b02d18e6bf040a0" /><Relationship Type="http://schemas.openxmlformats.org/officeDocument/2006/relationships/slide" Target="/ppt/slides/slide9.xml" Id="Rbd6d5b92e5724a04" /><Relationship Type="http://schemas.openxmlformats.org/officeDocument/2006/relationships/slide" Target="/ppt/slides/slide10.xml" Id="R09021d0fad5a413c" /><Relationship Type="http://schemas.openxmlformats.org/officeDocument/2006/relationships/slide" Target="/ppt/slides/slide11.xml" Id="R2b6a2ea4a18c4bd6" /><Relationship Type="http://schemas.openxmlformats.org/officeDocument/2006/relationships/slide" Target="/ppt/slides/slide12.xml" Id="Re7c6dfe65d1c4f1c" /><Relationship Type="http://schemas.openxmlformats.org/officeDocument/2006/relationships/slide" Target="/ppt/slides/slide13.xml" Id="Rc2fe6b488dc747ca" /><Relationship Type="http://schemas.openxmlformats.org/officeDocument/2006/relationships/slide" Target="/ppt/slides/slide14.xml" Id="R3fca3033bab7464f" /><Relationship Type="http://schemas.openxmlformats.org/officeDocument/2006/relationships/slide" Target="/ppt/slides/slide15.xml" Id="R9103e2aef141446d" /><Relationship Type="http://schemas.openxmlformats.org/officeDocument/2006/relationships/slide" Target="/ppt/slides/slide16.xml" Id="Rca0ba2ec588a45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4bfaf88381c4f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435650e7594307" /><Relationship Type="http://schemas.openxmlformats.org/officeDocument/2006/relationships/notesMaster" Target="/ppt/notesMasters/notesMaster1.xml" Id="R6068c7a02cb441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b974fc084c24f4d" /><Relationship Type="http://schemas.openxmlformats.org/officeDocument/2006/relationships/notesMaster" Target="/ppt/notesMasters/notesMaster1.xml" Id="R390885d7b4c64d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f3f2bbb79244e40" /><Relationship Type="http://schemas.openxmlformats.org/officeDocument/2006/relationships/notesMaster" Target="/ppt/notesMasters/notesMaster1.xml" Id="R0975fd24c24a4b6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73d19b9a96438d" /><Relationship Type="http://schemas.openxmlformats.org/officeDocument/2006/relationships/notesMaster" Target="/ppt/notesMasters/notesMaster1.xml" Id="R09e80370844f4f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ac7ab3533c4e87" /><Relationship Type="http://schemas.openxmlformats.org/officeDocument/2006/relationships/notesMaster" Target="/ppt/notesMasters/notesMaster1.xml" Id="R6ea84e0a533c46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0d9efb391ec4ce8" /><Relationship Type="http://schemas.openxmlformats.org/officeDocument/2006/relationships/notesMaster" Target="/ppt/notesMasters/notesMaster1.xml" Id="R882c069f6aed4c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4d740515034b03" /><Relationship Type="http://schemas.openxmlformats.org/officeDocument/2006/relationships/notesMaster" Target="/ppt/notesMasters/notesMaster1.xml" Id="R77cbff87e6b44c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f3e832dcbd64623" /><Relationship Type="http://schemas.openxmlformats.org/officeDocument/2006/relationships/notesMaster" Target="/ppt/notesMasters/notesMaster1.xml" Id="Rcb669b57b3144d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92c4bd03db0462b" /><Relationship Type="http://schemas.openxmlformats.org/officeDocument/2006/relationships/notesMaster" Target="/ppt/notesMasters/notesMaster1.xml" Id="R595403022c9a4e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2842e794dc4530" /><Relationship Type="http://schemas.openxmlformats.org/officeDocument/2006/relationships/notesMaster" Target="/ppt/notesMasters/notesMaster1.xml" Id="R37f012e85e1644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f7df57cd9a4495" /><Relationship Type="http://schemas.openxmlformats.org/officeDocument/2006/relationships/notesMaster" Target="/ppt/notesMasters/notesMaster1.xml" Id="Rc7e2efd62d9545a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a3831f27f4f4779" /><Relationship Type="http://schemas.openxmlformats.org/officeDocument/2006/relationships/notesMaster" Target="/ppt/notesMasters/notesMaster1.xml" Id="R01f2b1ee9dc845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0f35eb976d44d16" /><Relationship Type="http://schemas.openxmlformats.org/officeDocument/2006/relationships/notesMaster" Target="/ppt/notesMasters/notesMaster1.xml" Id="R3dee960dd9094b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39aa4538fa34b55" /><Relationship Type="http://schemas.openxmlformats.org/officeDocument/2006/relationships/notesMaster" Target="/ppt/notesMasters/notesMaster1.xml" Id="R1e3a188617df439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f8e08ec49ed42a3" /><Relationship Type="http://schemas.openxmlformats.org/officeDocument/2006/relationships/notesMaster" Target="/ppt/notesMasters/notesMaster1.xml" Id="Rf77957322c024e4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cfb64abdb6747d6" /><Relationship Type="http://schemas.openxmlformats.org/officeDocument/2006/relationships/notesMaster" Target="/ppt/notesMasters/notesMaster1.xml" Id="Rd776f5039244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00:00–00:12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声呐是一套以智能车免提语音为入口，按地点和事件连接人与信息的交互语音网络。你说出关心的事，它替你找消息，也帮你问现场的人。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12页主讲约5分钟。产品主张表达目标体验，不将路线匹配或实时通话算作已实现。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00:12–00:42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带家人到了景区，入口排满了，你想知道另一个停车场还能不能进。堵在事故后方，你想问前面开始放行没有。接人快迟到了，你想知道这个路口究竟能不能过。知道情况的人可能就在那边，但你不知道问谁，也不方便在开车时到处找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三个故事来自用户描述，是演示情境，非访谈结论或真实事故记录。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00:42–01:07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网络里有正在路上的人，有停车场和景区，也有正在发生的事故和拥堵。人可以提问，也可以留下一句观察。运营方提供地点公告。每个人通过自己的Agent进入网络，按需要找到相关声音，再把回应接回自己这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图为产品组织方式。地点、事件、声音和任务不是同一对象。事件聚合细节及终端实现见附录。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01:07–01:47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讲擅长让同频道的人马上说话。微信擅长熟人和群里的持续交流。地图组队或临时群把一次出行中的人聚到一起。声呐从一个具体需要出发：我想知道西门有没有位，就让Agent查那里的消息，或者问在场的人。我不必先认识他，也不必一直守着某个群。我们要验证的优势，是这整段体验能少多少寻找和等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定位比较及产品设计推断，不是竞品功能缺失清单。高德组队官方说明支持队伍内位置共享、收发信息及即时通讯；用户提及的临时群组按地图出行群聊场景表达，当前各客户端临时聊天室入口没有完整核验。Zello支持回放、存储和异步追听，不能说对讲都不留消息。微信也支持语音、群聊与位置等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  <a:p xmlns:a="http://schemas.openxmlformats.org/drawingml/2006/main">
            <a:r>
              <a:t>https://zello.com/product/features/history/</a:t>
            </a:r>
          </a:p>
          <a:p xmlns:a="http://schemas.openxmlformats.org/drawingml/2006/main">
            <a:r>
              <a:t>https://www.tencent.com/products/weixin-wechat/</a:t>
            </a:r>
          </a:p>
          <a:p xmlns:a="http://schemas.openxmlformats.org/drawingml/2006/main">
            <a:r>
              <a:t>https://cache.gaode.com/activity/auto_legal_instrument/groupTravel.html</a:t>
            </a:r>
          </a:p>
          <a:p xmlns:a="http://schemas.openxmlformats.org/drawingml/2006/main">
            <a:r>
              <a:t>https://lbs.amap.com/api/wia/tutorial/supervise/share_lacation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01:47–02:07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少找人，是说出问题就能开始。少盯屏，是问完可以继续走，Agent替你等。还有一层价值：一句仍适用的现场观察，能被后来的人找到。这些声音按地点和事件积累，才有机会形成一个持续有用的网络。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三项是需要在试点中测量的价值假设，不使用未经验证的节省时间或效果数字。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02:07–02:32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双方当下都方便，就问一句、回一句。也可以先留下一句观察，后来的人需要时再听。你发出的问题，还能等稍后的回应。这样，交流不需要所有人一直同时在线，地点里的声音也有机会持续发挥作用。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即时指短语音的及时往返。当前架构采用异步短语音，不是连续实时通话，也不声称已有实时多人对讲。来源有效性、参与意愿等放在附录说明。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02:32–03:07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问停车为例。你说西门还有位吗，自己的Agent先听懂地点和问题。网络查已有的适用消息。需要现场回应时，把明确问题交给在场车主的Agent，对方愿意就说一句。原声带着来源回来，接到你的这次需要里。你还可以追问从哪个入口进，或者结束。运营公告和已有观察，也可以直接成为回应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流程为产品原理。不是每次提问都必须走到另一位真人。正常授权、检索时效、静音、未知结果等细节放在附录。车主不共享私人助手记忆。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03:07–03:37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LM把随口一句话整理成地点、事件和意图，也整理已有信息。决策模型做分类和动作选择，比如内容是否通过，某个邀请是否值得提醒。网络服务负责检索、关联原声和回传，持续跟进这次需要。这样AI承担的是交流中的寻找和组织工作，现场的人提供自己的所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展示职责设计。邀请决策已有接入，完整内容审核仍需独立策略与评估；发布意图、审核、邀请、收听不得共享结论。固定业务规则校验身份、权限、时效和真实回复关系。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  <a:p xmlns:a="http://schemas.openxmlformats.org/drawingml/2006/main">
            <a:r>
              <a:t>/Users/joby/coding/voxity/docs/development/snr-003-004.md</a:t>
            </a:r>
          </a:p>
          <a:p xmlns:a="http://schemas.openxmlformats.org/drawingml/2006/main">
            <a:r>
              <a:t>/Users/joby/coding/voxity/docs/development/snr-005.md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03:37–03:57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张网络还可以接进场所和服务。车接近停车场，听到运营方的一句B2紧张，请往B3。用户问补胎，连接能提供服务的品牌门店。以后还可以按方向、时间和明确意愿，接入拼车和用车供给。先让场所信息服务有用，再逐项验证后面的业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规划场景，非已签业务。POI 运营主体需认证，动态车位仍依赖更新来源。靠近节点的自动播放是目标体验，实际位置与终端验收独立。品牌及撮合还要验证合作、履约与商业条件。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03:57–04:22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收费对象和付费理由要分清。停车场、景区和物业，可能为公告管理和到访者服务付费，先测试试点服务费和订阅。主机厂买接入与运营服务。品牌和出行合作方，则在有明确需求、真实履约后探索服务费或分成。第一笔钱先向场所运营方验证，不同时铺开所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商业假设，不做未经验证的价格、销量或营收预测。品牌内容不等同公共管理公告，具体合作和归因独立。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04:22–04:47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冷启动先收窄到一个停车场。运营方提供基础公告，让网络一开始就有可用内容，再让小范围车主补充观察和互助。先看问答有没有帮助、用户会不会再来，再看重复问询有没有减少，运营方愿不愿意付费和续用。我们有xAtom、灵矽，以及主机厂对底座的合作意向，可以用来推进接入与试点洽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入口资源不等于声呐预装、车主渠道规模或商业订单。没有首个POI已确定的证据。建议验证方案，不是已完成试点。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04:47–05:00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声呐要让现场的声音找到需要它的人。从车内的一句需求开始，先在一处场所做出有用的交互，再把地点与服务逐步连起来。这就是我们下一步想验证的事。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主讲结束，附录供追问。没有用户确认的融资金额，因此不新增融资诉求。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SNR-001至004已有后端发布；SNR-005 Android0.1.3代码及隔离模拟器检查完成。真人、实体设备和商业使用仍分别取得证据。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不把用户安装0.1.2当作0.1.3验收。不把底座合作等同声呐落地。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  <a:p xmlns:a="http://schemas.openxmlformats.org/drawingml/2006/main">
            <a:r>
              <a:t>/Users/joby/coding/voxity/docs/development/snr-003-004.md</a:t>
            </a:r>
          </a:p>
          <a:p xmlns:a="http://schemas.openxmlformats.org/drawingml/2006/main">
            <a:r>
              <a:t>/Users/joby/coding/voxity/docs/development/snr-005.md</a:t>
            </a:r>
          </a:p>
          <a:p xmlns:a="http://schemas.openxmlformats.org/drawingml/2006/main">
            <a:r>
              <a:t>/Users/joby/coding/voxity/deploy/deployment-snr-003-004-20261025.md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固定业务规则管理权限、时效和真实关系；各决策任务独立。没有适用内容就保留未知，没有人回应就保留等待。用户可以安静、结束和明确解决。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协议、MCP、存储、回执、幂等、台账状态等以工程文档为准，不占主讲。首版是异步短语音，不是连续实时多人对讲。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  <a:p xmlns:a="http://schemas.openxmlformats.org/drawingml/2006/main">
            <a:r>
              <a:t>/Users/joby/coding/voxity/docs/development/snr-003-004.md</a:t>
            </a:r>
          </a:p>
          <a:p xmlns:a="http://schemas.openxmlformats.org/drawingml/2006/main">
            <a:r>
              <a:t>/Users/joby/coding/voxity/docs/development/snr-005.md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声呐的差异是按地点、事件和个人需求组织一段交互，结合既有信息和现场真人回应。这是产品定位和待验证体验，不能表述为行业独家功能。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高德组队与用户提及的堵车临时群不是完全相同功能，本稿将其放在地图出行群聊场景下比较。未宣称高德没有AI、异步、车机语音或服务能力。Zello等公网对讲已有消息历史和AI能力，不能把这些当独有卖点。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  <a:p xmlns:a="http://schemas.openxmlformats.org/drawingml/2006/main">
            <a:r>
              <a:t>https://zello.com/product/features/history/</a:t>
            </a:r>
          </a:p>
          <a:p xmlns:a="http://schemas.openxmlformats.org/drawingml/2006/main">
            <a:r>
              <a:t>https://www.tencent.com/products/weixin-wechat/</a:t>
            </a:r>
          </a:p>
          <a:p xmlns:a="http://schemas.openxmlformats.org/drawingml/2006/main">
            <a:r>
              <a:t>https://cache.gaode.com/activity/auto_legal_instrument/groupTravel.html</a:t>
            </a:r>
          </a:p>
          <a:p xmlns:a="http://schemas.openxmlformats.org/drawingml/2006/main">
            <a:r>
              <a:t>https://lbs.amap.com/api/wia/tutorial/supervise/share_lacation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答疑附录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放映到本页后，按右方向键启动60秒视频。结束后继续或退出放映。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前版原理示意，包含授权和状态细节，不充作产品真人录屏。媒体时序沿用前版经过本机PowerPoint验证的播放结构。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来源：/Users/joby/coding/voxity/docs/design/product-architecture.md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868a898e6d424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49376618f6417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21f77ff618475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ba7989229446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820cc9f307446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3c07b76fa546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C60199-8DE0-4195-95D5-FBDEE7FE1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F89E06-2F1C-4751-8034-5CB02B98CB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135656E-20DF-4C55-BAB9-EE3CFE3499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5BD363-EBAF-4123-B378-BFD690D48E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9AF7F5C-9E6E-457E-900F-230ADF1207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F8A392-3E66-4C20-81DE-804EF86CD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7C0E715-B082-4BB2-BD25-F896C43BE3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095A7C0-1034-49E3-A9DD-519166EE29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38ECEDD-8801-4D74-95FF-FB4FB5F1FE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B22D46-D556-4FEF-BA15-65C28030DA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da15d203244bb9" /><Relationship Type="http://schemas.openxmlformats.org/officeDocument/2006/relationships/slideLayout" Target="/ppt/slideLayouts/slideLayout1.xml" Id="Raaa5b2396b534c45" /><Relationship Type="http://schemas.openxmlformats.org/officeDocument/2006/relationships/slideLayout" Target="/ppt/slideLayouts/slideLayout2.xml" Id="Ra0251915bbbb4b75" /><Relationship Type="http://schemas.openxmlformats.org/officeDocument/2006/relationships/slideLayout" Target="/ppt/slideLayouts/slideLayout3.xml" Id="Re5896d81273543dd" /><Relationship Type="http://schemas.openxmlformats.org/officeDocument/2006/relationships/slideLayout" Target="/ppt/slideLayouts/slideLayout4.xml" Id="R025f8af701534339" /><Relationship Type="http://schemas.openxmlformats.org/officeDocument/2006/relationships/slideLayout" Target="/ppt/slideLayouts/slideLayout5.xml" Id="Rb4bcec7de10e463c" /><Relationship Type="http://schemas.openxmlformats.org/officeDocument/2006/relationships/slideLayout" Target="/ppt/slideLayouts/slideLayout6.xml" Id="R82f02cc2c5d344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a5b2396b534c45"/>
    <p:sldLayoutId xmlns:r="http://schemas.openxmlformats.org/officeDocument/2006/relationships" id="2147483650" r:id="Ra0251915bbbb4b75"/>
    <p:sldLayoutId xmlns:r="http://schemas.openxmlformats.org/officeDocument/2006/relationships" id="2147483651" r:id="Re5896d81273543dd"/>
    <p:sldLayoutId xmlns:r="http://schemas.openxmlformats.org/officeDocument/2006/relationships" id="2147483652" r:id="R025f8af701534339"/>
    <p:sldLayoutId xmlns:r="http://schemas.openxmlformats.org/officeDocument/2006/relationships" id="2147483653" r:id="Rb4bcec7de10e463c"/>
    <p:sldLayoutId xmlns:r="http://schemas.openxmlformats.org/officeDocument/2006/relationships" id="2147483654" r:id="R82f02cc2c5d344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5fce067b0c406f" /><Relationship Type="http://schemas.openxmlformats.org/officeDocument/2006/relationships/notesSlide" Target="/ppt/notesSlides/notesSlide1.xml" Id="R65a1241bf5274a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cf8c100516458f" /><Relationship Type="http://schemas.openxmlformats.org/officeDocument/2006/relationships/image" Target="/ppt/media/image.png" Id="R7590d83e56b54c2c" /><Relationship Type="http://schemas.openxmlformats.org/officeDocument/2006/relationships/image" Target="/ppt/media/image2.png" Id="Rb23f598972e242f9" /><Relationship Type="http://schemas.openxmlformats.org/officeDocument/2006/relationships/notesSlide" Target="/ppt/notesSlides/notesSlide2.xml" Id="R8fee605a38ac4b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22e29ee3b249ed" /><Relationship Type="http://schemas.openxmlformats.org/officeDocument/2006/relationships/notesSlide" Target="/ppt/notesSlides/notesSlide3.xml" Id="R8dc1e805e63e45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cc9e85ca354a2f" /><Relationship Type="http://schemas.openxmlformats.org/officeDocument/2006/relationships/notesSlide" Target="/ppt/notesSlides/notesSlide4.xml" Id="R2bbd7f350f17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4165615ef44c40" /><Relationship Type="http://schemas.openxmlformats.org/officeDocument/2006/relationships/notesSlide" Target="/ppt/notesSlides/notesSlide5.xml" Id="Re319d072e26041e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89d4cce3d1403f" /><Relationship Type="http://schemas.openxmlformats.org/officeDocument/2006/relationships/notesSlide" Target="/ppt/notesSlides/notesSlide6.xml" Id="Ra50f3d20619b45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a2934fd32c4bc3" /><Relationship Type="http://schemas.openxmlformats.org/officeDocument/2006/relationships/notesSlide" Target="/ppt/notesSlides/notesSlide7.xml" Id="Rbd5692d037be45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dc249577b543d0" /><Relationship Type="http://schemas.openxmlformats.org/officeDocument/2006/relationships/notesSlide" Target="/ppt/notesSlides/notesSlide8.xml" Id="R9c04aa3e691446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0fb2620e554163" /><Relationship Type="http://schemas.openxmlformats.org/officeDocument/2006/relationships/notesSlide" Target="/ppt/notesSlides/notesSlide9.xml" Id="R4860f5ac2e3840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aa7f3283934087" /><Relationship Type="http://schemas.openxmlformats.org/officeDocument/2006/relationships/notesSlide" Target="/ppt/notesSlides/notesSlide10.xml" Id="R66a3cc538adb46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1517f1e26649a6" /><Relationship Type="http://schemas.openxmlformats.org/officeDocument/2006/relationships/notesSlide" Target="/ppt/notesSlides/notesSlide11.xml" Id="Rc1f51caee6984e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c44adc85a74d3b" /><Relationship Type="http://schemas.openxmlformats.org/officeDocument/2006/relationships/notesSlide" Target="/ppt/notesSlides/notesSlide12.xml" Id="R75ac7563c54f4a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9801cad46744eb" /><Relationship Type="http://schemas.openxmlformats.org/officeDocument/2006/relationships/notesSlide" Target="/ppt/notesSlides/notesSlide13.xml" Id="Re3b783f62d8741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0b6d52f9684420" /><Relationship Type="http://schemas.openxmlformats.org/officeDocument/2006/relationships/notesSlide" Target="/ppt/notesSlides/notesSlide14.xml" Id="Rf4f2186d1a1b4e9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2b46198a014390" /><Relationship Type="http://schemas.openxmlformats.org/officeDocument/2006/relationships/notesSlide" Target="/ppt/notesSlides/notesSlide15.xml" Id="R4eb9b983f13245cd" 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af8e135edc3499d"/><Relationship Type="http://schemas.openxmlformats.org/officeDocument/2006/relationships/image" Target="/ppt/media/image3.png" Id="R022b92e78f104dbb"/><Relationship Type="http://schemas.openxmlformats.org/officeDocument/2006/relationships/notesSlide" Target="/ppt/notesSlides/notesSlide16.xml" Id="Raa349f4c94174e07"/><Relationship Id="rIdSonarVideo" Type="http://schemas.openxmlformats.org/officeDocument/2006/relationships/video" Target="../media/sonar-operation.mp4"/><Relationship Id="rIdSonarMedia" Type="http://schemas.microsoft.com/office/2007/relationships/media" Target="../media/sonar-operation.mp4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84BC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onar">
            <a:extLst xmlns:a="http://schemas.openxmlformats.org/drawingml/2006/main">
              <a:ext uri="{FF2B5EF4-FFF2-40B4-BE49-F238E27FC236}">
                <a16:creationId xmlns:a16="http://schemas.microsoft.com/office/drawing/2014/main" id="{E1751B3D-8725-4271-BBB5-6FF88B98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857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defPPr>
            <a:lvl1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1pPr>
            <a:lvl2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2pPr>
            <a:lvl3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3pPr>
            <a:lvl4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4pPr>
            <a:lvl5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5pPr>
            <a:lvl6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6pPr>
            <a:lvl7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7pPr>
            <a:lvl8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8pPr>
            <a:lvl9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9pPr>
          </a:lstStyle>
          <a:p xmlns:a="http://schemas.openxmlformats.org/drawingml/2006/main">
            <a:pPr algn="l">
              <a:def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765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rPr>
              <a:t>Sonar</a:t>
            </a:r>
          </a:p>
        </p:txBody>
      </p:sp>
      <p:sp>
        <p:nvSpPr>
          <p:cNvPr id="2" name="声呐">
            <a:extLst xmlns:a="http://schemas.openxmlformats.org/drawingml/2006/main">
              <a:ext uri="{FF2B5EF4-FFF2-40B4-BE49-F238E27FC236}">
                <a16:creationId xmlns:a16="http://schemas.microsoft.com/office/drawing/2014/main" id="{F935654C-8962-457D-A330-3EED349E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953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声呐</a:t>
            </a:r>
          </a:p>
        </p:txBody>
      </p:sp>
      <p:sp>
        <p:nvSpPr>
          <p:cNvPr id="3" name="开口，&#10;问到现场。">
            <a:extLst xmlns:a="http://schemas.openxmlformats.org/drawingml/2006/main">
              <a:ext uri="{FF2B5EF4-FFF2-40B4-BE49-F238E27FC236}">
                <a16:creationId xmlns:a16="http://schemas.microsoft.com/office/drawing/2014/main" id="{75A090CC-D7B2-4901-8BC4-6BF6225A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00300"/>
            <a:ext cx="53911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开口，</a:t>
            </a:r>
          </a:p>
          <a:p xmlns:a="http://schemas.openxmlformats.org/drawingml/2006/main">
            <a:pPr algn="l">
              <a:def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9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问到现场。</a:t>
            </a:r>
          </a:p>
        </p:txBody>
      </p:sp>
      <p:sp>
        <p:nvSpPr>
          <p:cNvPr id="4" name="以智能车免提语音为入口&#10;按地点和事件，连接人与信息">
            <a:extLst xmlns:a="http://schemas.openxmlformats.org/drawingml/2006/main">
              <a:ext uri="{FF2B5EF4-FFF2-40B4-BE49-F238E27FC236}">
                <a16:creationId xmlns:a16="http://schemas.microsoft.com/office/drawing/2014/main" id="{8CDBAEB2-CD8A-419C-BE77-043C52761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619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rPr>
              <a:t>以智能车免提语音为入口</a:t>
            </a:r>
          </a:p>
          <a:p xmlns:a="http://schemas.openxmlformats.org/drawingml/2006/main">
            <a:pPr algn="l">
              <a:def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rPr>
              <a:t>按地点和事件，连接人与信息</a:t>
            </a:r>
          </a:p>
        </p:txBody>
      </p:sp>
      <p:sp>
        <p:nvSpPr>
          <p:cNvPr id="5" name="交互语音网络">
            <a:extLst xmlns:a="http://schemas.openxmlformats.org/drawingml/2006/main">
              <a:ext uri="{FF2B5EF4-FFF2-40B4-BE49-F238E27FC236}">
                <a16:creationId xmlns:a16="http://schemas.microsoft.com/office/drawing/2014/main" id="{0417D80D-CC9E-452D-AD77-6571B7BE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交互语音网络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742D0C-1390-4898-9871-D92CDAD3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5115" y="3188018"/>
            <a:ext cx="226695" cy="2266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D2AE36-B8E3-4F19-9ED2-8DC5D7B6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495675"/>
            <a:ext cx="485775" cy="340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BE4EC8-378A-4454-996C-8226884A0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48025"/>
            <a:ext cx="663893" cy="526256"/>
          </a:xfrm>
          <a:prstGeom xmlns:a="http://schemas.openxmlformats.org/drawingml/2006/main" prst="roundRect">
            <a:avLst>
              <a:gd name="adj" fmla="val 14480"/>
            </a:avLst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40AB27-8FFB-4096-B819-3F107135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2433" y="342614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48BF0-0643-4E51-A57E-2C122DCD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0090" y="3426143"/>
            <a:ext cx="64770" cy="64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0E52F-23E9-4694-84DA-7EAE59FF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7203" y="3620453"/>
            <a:ext cx="242888" cy="323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A4373-3C49-4D59-AD17-2707D3AAC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00400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停车">
            <a:extLst xmlns:a="http://schemas.openxmlformats.org/drawingml/2006/main">
              <a:ext uri="{FF2B5EF4-FFF2-40B4-BE49-F238E27FC236}">
                <a16:creationId xmlns:a16="http://schemas.microsoft.com/office/drawing/2014/main" id="{0FF0F4EB-330D-4CA9-8C6A-CB625763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33623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停车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796FEB-77AF-4F82-8A06-1536CEE2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448050"/>
            <a:ext cx="61912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D73987-4FB4-42B7-BA67-6BD84B478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48050"/>
            <a:ext cx="114300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“西门还有车位吗？”">
            <a:extLst xmlns:a="http://schemas.openxmlformats.org/drawingml/2006/main">
              <a:ext uri="{FF2B5EF4-FFF2-40B4-BE49-F238E27FC236}">
                <a16:creationId xmlns:a16="http://schemas.microsoft.com/office/drawing/2014/main" id="{FE64F7B3-1B1B-4878-A3F8-E142337E6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3837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“西门还有车位吗？”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4ACE6-0460-49DA-9C2E-665E4DD4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762750" y="4543425"/>
            <a:ext cx="40195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现场的人，有效的消息">
            <a:extLst xmlns:a="http://schemas.openxmlformats.org/drawingml/2006/main">
              <a:ext uri="{FF2B5EF4-FFF2-40B4-BE49-F238E27FC236}">
                <a16:creationId xmlns:a16="http://schemas.microsoft.com/office/drawing/2014/main" id="{1DD6BFFC-3209-4139-9797-9F40C242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054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现场的人，有效的消息</a:t>
            </a:r>
          </a:p>
        </p:txBody>
      </p:sp>
    </p:spTree>
    <p:extLst>
      <p:ext uri="{BB962C8B-B14F-4D97-AF65-F5344CB8AC3E}">
        <p14:creationId xmlns:p14="http://schemas.microsoft.com/office/powerpoint/2010/main" val="20576113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最想知道的，往往是现场才知道的">
            <a:extLst xmlns:a="http://schemas.openxmlformats.org/drawingml/2006/main">
              <a:ext uri="{FF2B5EF4-FFF2-40B4-BE49-F238E27FC236}">
                <a16:creationId xmlns:a16="http://schemas.microsoft.com/office/drawing/2014/main" id="{F86F7FAD-E512-4CE3-9ADA-E5605282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最想知道的，往往是现场才知道的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648C07D1-190B-4035-8C63-A9FD95C7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8CD3F-8647-4272-80D5-6D9E9B64AE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90d83e56b54c2c"/>
          <a:srcRect xmlns:a="http://schemas.openxmlformats.org/drawingml/2006/main" l="0" t="2124" r="0" b="2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571625"/>
            <a:ext cx="3429000" cy="1847850"/>
          </a:xfrm>
          <a:prstGeom xmlns:a="http://schemas.openxmlformats.org/drawingml/2006/main" prst="rect">
            <a:avLst/>
          </a:prstGeom>
        </p:spPr>
      </p:pic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E9CCA-89C2-4A55-A80A-756F3682617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3f598972e242f9"/>
          <a:srcRect xmlns:a="http://schemas.openxmlformats.org/drawingml/2006/main" l="0" t="2124" r="0" b="21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81500" y="1571625"/>
            <a:ext cx="3429000" cy="18478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B5D8DF-951D-4A27-ADCA-DDA1793F3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71625"/>
            <a:ext cx="3429000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340DAA-9D4F-42B3-9754-AB10F341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43175"/>
            <a:ext cx="28670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75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BB7563-1D46-40E7-8F73-038061A46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3463" y="2190750"/>
            <a:ext cx="471488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D2DB9C-AF50-45EB-AAFF-DA45302F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62200"/>
            <a:ext cx="7543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38A62B-EFAC-4781-B12F-6253CD1C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2242185"/>
            <a:ext cx="29146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2E9BB-0211-4595-B05F-D338754A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028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02286-132D-4800-B148-F3C9B63F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0653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42FF6-2D5B-4591-BBAC-5326D8BC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213" y="2190750"/>
            <a:ext cx="471488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20FE9-8782-4C4B-9ECA-8BBA45AE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362200"/>
            <a:ext cx="7543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7B22C-63D2-4BA7-9327-268D4986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2242185"/>
            <a:ext cx="29146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FA8609-7690-4447-8BA8-0656FF7C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9778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1FCD6-0BC3-4806-B9BC-D627E8ED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8403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16245-8746-4E23-A1C3-76B252AF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9438" y="2190750"/>
            <a:ext cx="471488" cy="2143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30E639-2E87-4F4A-920E-680100912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362200"/>
            <a:ext cx="754380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08A419-B974-485C-A480-91CED415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5163" y="2242185"/>
            <a:ext cx="291465" cy="1200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2B1BB-F441-4BCE-9B08-51C7A59C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8003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202231-57AA-4038-AD90-03A29014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16628" y="2550795"/>
            <a:ext cx="154305" cy="15430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全家到了景区">
            <a:extLst xmlns:a="http://schemas.openxmlformats.org/drawingml/2006/main">
              <a:ext uri="{FF2B5EF4-FFF2-40B4-BE49-F238E27FC236}">
                <a16:creationId xmlns:a16="http://schemas.microsoft.com/office/drawing/2014/main" id="{A4399F76-668F-48EA-B962-0931203F2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242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全家到了景区</a:t>
            </a:r>
          </a:p>
        </p:txBody>
      </p:sp>
      <p:sp>
        <p:nvSpPr>
          <p:cNvPr id="23" name="哪个停车场还能进？">
            <a:extLst xmlns:a="http://schemas.openxmlformats.org/drawingml/2006/main">
              <a:ext uri="{FF2B5EF4-FFF2-40B4-BE49-F238E27FC236}">
                <a16:creationId xmlns:a16="http://schemas.microsoft.com/office/drawing/2014/main" id="{01554C02-3DB3-4477-973F-921DEA59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哪个停车场还能进？</a:t>
            </a:r>
          </a:p>
        </p:txBody>
      </p:sp>
      <p:sp>
        <p:nvSpPr>
          <p:cNvPr id="24" name="绕了两圈，还是排错队">
            <a:extLst xmlns:a="http://schemas.openxmlformats.org/drawingml/2006/main">
              <a:ext uri="{FF2B5EF4-FFF2-40B4-BE49-F238E27FC236}">
                <a16:creationId xmlns:a16="http://schemas.microsoft.com/office/drawing/2014/main" id="{7CA2727C-2F0D-40E3-83DA-5706DAC0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62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绕了两圈，还是排错队</a:t>
            </a:r>
          </a:p>
        </p:txBody>
      </p:sp>
      <p:sp>
        <p:nvSpPr>
          <p:cNvPr id="25" name="堵在事故后方">
            <a:extLst xmlns:a="http://schemas.openxmlformats.org/drawingml/2006/main">
              <a:ext uri="{FF2B5EF4-FFF2-40B4-BE49-F238E27FC236}">
                <a16:creationId xmlns:a16="http://schemas.microsoft.com/office/drawing/2014/main" id="{690E0059-A082-4CD3-90A2-2537A261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242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堵在事故后方</a:t>
            </a:r>
          </a:p>
        </p:txBody>
      </p:sp>
      <p:sp>
        <p:nvSpPr>
          <p:cNvPr id="26" name="前面开始放行了吗？">
            <a:extLst xmlns:a="http://schemas.openxmlformats.org/drawingml/2006/main">
              <a:ext uri="{FF2B5EF4-FFF2-40B4-BE49-F238E27FC236}">
                <a16:creationId xmlns:a16="http://schemas.microsoft.com/office/drawing/2014/main" id="{EDC72289-8F0D-422A-B929-A28382C4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005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前面开始放行了吗？</a:t>
            </a:r>
          </a:p>
        </p:txBody>
      </p:sp>
      <p:sp>
        <p:nvSpPr>
          <p:cNvPr id="27" name="只能等，没法安排后面的事">
            <a:extLst xmlns:a="http://schemas.openxmlformats.org/drawingml/2006/main">
              <a:ext uri="{FF2B5EF4-FFF2-40B4-BE49-F238E27FC236}">
                <a16:creationId xmlns:a16="http://schemas.microsoft.com/office/drawing/2014/main" id="{72D5785E-3F49-4128-9D9E-3D1D7BE3A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62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只能等，没法安排后面的事</a:t>
            </a:r>
          </a:p>
        </p:txBody>
      </p:sp>
      <p:sp>
        <p:nvSpPr>
          <p:cNvPr id="28" name="接人快迟到了">
            <a:extLst xmlns:a="http://schemas.openxmlformats.org/drawingml/2006/main">
              <a:ext uri="{FF2B5EF4-FFF2-40B4-BE49-F238E27FC236}">
                <a16:creationId xmlns:a16="http://schemas.microsoft.com/office/drawing/2014/main" id="{0A6E7172-3846-435B-B463-C025046FB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24275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接人快迟到了</a:t>
            </a:r>
          </a:p>
        </p:txBody>
      </p:sp>
      <p:sp>
        <p:nvSpPr>
          <p:cNvPr id="29" name="这个路口能过去吗？">
            <a:extLst xmlns:a="http://schemas.openxmlformats.org/drawingml/2006/main">
              <a:ext uri="{FF2B5EF4-FFF2-40B4-BE49-F238E27FC236}">
                <a16:creationId xmlns:a16="http://schemas.microsoft.com/office/drawing/2014/main" id="{9BE86825-0725-422B-ADE7-685E1FFF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00550"/>
            <a:ext cx="342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这个路口能过去吗？</a:t>
            </a:r>
          </a:p>
        </p:txBody>
      </p:sp>
      <p:sp>
        <p:nvSpPr>
          <p:cNvPr id="30" name="地图红线之外，还差一句实况">
            <a:extLst xmlns:a="http://schemas.openxmlformats.org/drawingml/2006/main">
              <a:ext uri="{FF2B5EF4-FFF2-40B4-BE49-F238E27FC236}">
                <a16:creationId xmlns:a16="http://schemas.microsoft.com/office/drawing/2014/main" id="{60929EA3-C8A0-49BF-8632-CFE4C7FC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62575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地图红线之外，还差一句实况</a:t>
            </a:r>
          </a:p>
        </p:txBody>
      </p:sp>
      <p:sp>
        <p:nvSpPr>
          <p:cNvPr id="31" name="场景示意。配图为 AI 生成。">
            <a:extLst xmlns:a="http://schemas.openxmlformats.org/drawingml/2006/main">
              <a:ext uri="{FF2B5EF4-FFF2-40B4-BE49-F238E27FC236}">
                <a16:creationId xmlns:a16="http://schemas.microsoft.com/office/drawing/2014/main" id="{8DBBFD7C-9CA8-4A33-8BEB-9AAE3C0C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场景示意。配图为 AI 生成。</a:t>
            </a:r>
          </a:p>
        </p:txBody>
      </p:sp>
    </p:spTree>
    <p:extLst>
      <p:ext uri="{BB962C8B-B14F-4D97-AF65-F5344CB8AC3E}">
        <p14:creationId xmlns:p14="http://schemas.microsoft.com/office/powerpoint/2010/main" val="16508214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把现场的人、地点和声音，接成一张网络">
            <a:extLst xmlns:a="http://schemas.openxmlformats.org/drawingml/2006/main">
              <a:ext uri="{FF2B5EF4-FFF2-40B4-BE49-F238E27FC236}">
                <a16:creationId xmlns:a16="http://schemas.microsoft.com/office/drawing/2014/main" id="{F96B1E52-890D-4300-873D-9353F122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把现场的人、地点和声音，接成一张网络</a:t>
            </a:r>
          </a:p>
        </p:txBody>
      </p:sp>
      <p:sp>
        <p:nvSpPr>
          <p:cNvPr id="2" name="03">
            <a:extLst xmlns:a="http://schemas.openxmlformats.org/drawingml/2006/main">
              <a:ext uri="{FF2B5EF4-FFF2-40B4-BE49-F238E27FC236}">
                <a16:creationId xmlns:a16="http://schemas.microsoft.com/office/drawing/2014/main" id="{D8E4304E-07D6-489D-83A1-9939EA71F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174D9F-691D-445B-BEE8-B19CCC97A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8" y="2876550"/>
            <a:ext cx="618172" cy="2809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C1971-062F-431A-96B7-389DB496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101340"/>
            <a:ext cx="989076" cy="3596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21F34B-2648-4183-830F-1A76FAD1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3" y="2943987"/>
            <a:ext cx="382143" cy="15735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C44A7-B133-4F49-86A5-96EFA942D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30" y="3348609"/>
            <a:ext cx="202311" cy="2023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1324C-0B14-49BD-95AE-C71B3A73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606" y="3348609"/>
            <a:ext cx="202311" cy="2023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02C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车里的你">
            <a:extLst xmlns:a="http://schemas.openxmlformats.org/drawingml/2006/main">
              <a:ext uri="{FF2B5EF4-FFF2-40B4-BE49-F238E27FC236}">
                <a16:creationId xmlns:a16="http://schemas.microsoft.com/office/drawing/2014/main" id="{223BFA63-BA26-478C-8382-3A3AC6939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车里的你</a:t>
            </a:r>
          </a:p>
        </p:txBody>
      </p:sp>
      <p:sp>
        <p:nvSpPr>
          <p:cNvPr id="9" name="开口说需求">
            <a:extLst xmlns:a="http://schemas.openxmlformats.org/drawingml/2006/main">
              <a:ext uri="{FF2B5EF4-FFF2-40B4-BE49-F238E27FC236}">
                <a16:creationId xmlns:a16="http://schemas.microsoft.com/office/drawing/2014/main" id="{8BA97684-BB34-4712-B460-EEC612C0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开口说需求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C58FD-75FC-4D09-BF54-E49812BF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886075"/>
            <a:ext cx="898208" cy="711994"/>
          </a:xfrm>
          <a:prstGeom xmlns:a="http://schemas.openxmlformats.org/drawingml/2006/main" prst="roundRect">
            <a:avLst>
              <a:gd name="adj" fmla="val 10702"/>
            </a:avLst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021B3-C695-4423-8437-07174C01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193" y="3127058"/>
            <a:ext cx="87630" cy="87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9B702-388D-4693-8E00-3251AFE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435" y="3127058"/>
            <a:ext cx="87630" cy="876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54664D-DE59-473E-8F65-B8E3CE7A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2823" y="3389948"/>
            <a:ext cx="328613" cy="438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你的个人 Agent">
            <a:extLst xmlns:a="http://schemas.openxmlformats.org/drawingml/2006/main">
              <a:ext uri="{FF2B5EF4-FFF2-40B4-BE49-F238E27FC236}">
                <a16:creationId xmlns:a16="http://schemas.microsoft.com/office/drawing/2014/main" id="{6D899625-9BA4-4044-AB4B-0C6F4A48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943350"/>
            <a:ext cx="234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你的个人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7DC732-E125-4F83-9A69-215B6BD5C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238500"/>
            <a:ext cx="914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D82989-5CE8-42D5-B334-1B82AF24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81350"/>
            <a:ext cx="1171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8F20C-963A-48E1-A392-04A1D5819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76200" cy="3362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C31CF2-490A-445E-840E-B67A86C24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526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BB4EB2-AA9E-471A-BF4C-C5D98241A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29025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0F7FC-500A-412E-91DA-E638AA386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768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F2B4F7-2511-4E6F-8C3C-8D9E6670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676400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人">
            <a:extLst xmlns:a="http://schemas.openxmlformats.org/drawingml/2006/main">
              <a:ext uri="{FF2B5EF4-FFF2-40B4-BE49-F238E27FC236}">
                <a16:creationId xmlns:a16="http://schemas.microsoft.com/office/drawing/2014/main" id="{D9556F3D-D263-4723-9CF4-7C4B9B72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3832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49B80-91B7-4732-A6EE-BD341EE5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916430"/>
            <a:ext cx="4445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CCA5F4-B7E4-4005-BA3C-805B967B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857" y="1842135"/>
            <a:ext cx="444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CFC3B7-3653-4F6D-854A-2D30F811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39" y="1767840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8B518C-451A-49A7-BEEA-06700CF6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820" y="1866900"/>
            <a:ext cx="4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51E115B-98D3-4FD9-9F18-1C9307D5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02" y="1743075"/>
            <a:ext cx="4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A9099-7494-4709-91A1-DC541DEA0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784" y="1817370"/>
            <a:ext cx="4445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C59B07-DD3F-454D-810E-0E68493E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766" y="1904048"/>
            <a:ext cx="44450" cy="173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74D8ED-6FCB-4C6D-85D8-76C70A84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748" y="1792605"/>
            <a:ext cx="4445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F4EBF-35E4-4D18-BD73-3F184917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730" y="1854518"/>
            <a:ext cx="44450" cy="272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767499-8596-4E64-BB49-9ED61B8F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11" y="1767840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E9E1C6-96ED-445C-8D01-9D4107EE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693" y="1891665"/>
            <a:ext cx="44450" cy="19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现场车主的原声观察">
            <a:extLst xmlns:a="http://schemas.openxmlformats.org/drawingml/2006/main">
              <a:ext uri="{FF2B5EF4-FFF2-40B4-BE49-F238E27FC236}">
                <a16:creationId xmlns:a16="http://schemas.microsoft.com/office/drawing/2014/main" id="{97F05863-57AF-4492-9166-49AC08C77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177165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现场车主的原声观察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C766A4-F0C5-469C-A8A3-51E9CCB8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343275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地点">
            <a:extLst xmlns:a="http://schemas.openxmlformats.org/drawingml/2006/main">
              <a:ext uri="{FF2B5EF4-FFF2-40B4-BE49-F238E27FC236}">
                <a16:creationId xmlns:a16="http://schemas.microsoft.com/office/drawing/2014/main" id="{4128D947-AF6B-48AC-A487-B429DFB0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052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地点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853655-B3DD-4537-8930-19B2081F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583305"/>
            <a:ext cx="4445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D60F90-7158-463D-9D96-E2E62D8FD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857" y="3509010"/>
            <a:ext cx="444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2BE72ED-55DC-442E-871B-0DDCA942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39" y="3434715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D7A8DD-FCE5-44B3-8D04-8E9298CA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820" y="3533775"/>
            <a:ext cx="4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4238A5-F74F-4C09-87AB-3780D60B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02" y="3409950"/>
            <a:ext cx="4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D7F506-AAD5-4A8A-993E-663CD1543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784" y="3484245"/>
            <a:ext cx="4445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D3E737C-E245-489D-A6AF-FCBBA8CF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766" y="3570923"/>
            <a:ext cx="44450" cy="173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A02FA1-27D2-465E-B78E-B21A4976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748" y="3459480"/>
            <a:ext cx="4445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CA68BBC-148A-4B4E-B234-A8273D947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730" y="3521393"/>
            <a:ext cx="44450" cy="272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2CF4F5-7A0A-458B-8F76-C20B20D99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11" y="3434715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60620A8-74B6-4CD9-8D3E-5D19E3540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693" y="3558540"/>
            <a:ext cx="44450" cy="19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停车场公告与地点留声">
            <a:extLst xmlns:a="http://schemas.openxmlformats.org/drawingml/2006/main">
              <a:ext uri="{FF2B5EF4-FFF2-40B4-BE49-F238E27FC236}">
                <a16:creationId xmlns:a16="http://schemas.microsoft.com/office/drawing/2014/main" id="{E5FF766C-A4A5-49AF-9D33-96B15E77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438525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停车场公告与地点留声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1C088B-6744-44E7-B5C2-EB93C12E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5010150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事件">
            <a:extLst xmlns:a="http://schemas.openxmlformats.org/drawingml/2006/main">
              <a:ext uri="{FF2B5EF4-FFF2-40B4-BE49-F238E27FC236}">
                <a16:creationId xmlns:a16="http://schemas.microsoft.com/office/drawing/2014/main" id="{F2CAD287-2C1D-442A-B1E2-BAB4D95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72075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事件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4C893E-32B6-4ED2-B586-6D571241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50180"/>
            <a:ext cx="44450" cy="1485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39E891-BA89-4BF9-872D-780EBC6C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8857" y="5175885"/>
            <a:ext cx="44450" cy="297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BE3798-0E8A-44C3-9CB6-0FCCA2BE2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839" y="5101590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B05B55-679E-4EE0-B987-FAF4C2AA8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2820" y="5200650"/>
            <a:ext cx="4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D8B7434-2F6C-45B9-88C5-A7B43B2E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9802" y="5076825"/>
            <a:ext cx="444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C0151D-D795-48B7-9090-DF24595A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784" y="5151120"/>
            <a:ext cx="44450" cy="3467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84D5D8-1460-48F6-AC18-6F90798B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3766" y="5237798"/>
            <a:ext cx="44450" cy="17335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728D081-D037-473D-8B22-041D4F24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748" y="5126355"/>
            <a:ext cx="44450" cy="396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14E4E1-4B14-4318-886A-FD277C35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7730" y="5188268"/>
            <a:ext cx="44450" cy="2724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0396D7-11E3-4D90-8DA9-DC57AC45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4711" y="5101590"/>
            <a:ext cx="44450" cy="4457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12A53E-4458-4EB3-BE8D-D214315A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1693" y="5225415"/>
            <a:ext cx="44450" cy="198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围绕事故、拥堵的提问与更新">
            <a:extLst xmlns:a="http://schemas.openxmlformats.org/drawingml/2006/main">
              <a:ext uri="{FF2B5EF4-FFF2-40B4-BE49-F238E27FC236}">
                <a16:creationId xmlns:a16="http://schemas.microsoft.com/office/drawing/2014/main" id="{1F8E16F2-7AF2-4E13-8DE5-EAE7209E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105400"/>
            <a:ext cx="2800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围绕事故、拥堵的提问与更新</a:t>
            </a:r>
          </a:p>
        </p:txBody>
      </p:sp>
      <p:sp>
        <p:nvSpPr>
          <p:cNvPr id="63" name="按地点和事件找消息，也找愿意回应的人">
            <a:extLst xmlns:a="http://schemas.openxmlformats.org/drawingml/2006/main">
              <a:ext uri="{FF2B5EF4-FFF2-40B4-BE49-F238E27FC236}">
                <a16:creationId xmlns:a16="http://schemas.microsoft.com/office/drawing/2014/main" id="{E3DE8FEE-2A37-4EDE-B706-200957505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按地点和事件找消息，也找愿意回应的人</a:t>
            </a:r>
          </a:p>
        </p:txBody>
      </p:sp>
    </p:spTree>
    <p:extLst>
      <p:ext uri="{BB962C8B-B14F-4D97-AF65-F5344CB8AC3E}">
        <p14:creationId xmlns:p14="http://schemas.microsoft.com/office/powerpoint/2010/main" val="10940205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声呐围绕“我现在想知道什么”组织交流">
            <a:extLst xmlns:a="http://schemas.openxmlformats.org/drawingml/2006/main">
              <a:ext uri="{FF2B5EF4-FFF2-40B4-BE49-F238E27FC236}">
                <a16:creationId xmlns:a16="http://schemas.microsoft.com/office/drawing/2014/main" id="{DF033A49-819C-43C6-95A7-95291F72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声呐围绕“我现在想知道什么”组织交流</a:t>
            </a:r>
          </a:p>
        </p:txBody>
      </p:sp>
      <p:sp>
        <p:nvSpPr>
          <p:cNvPr id="2" name="04">
            <a:extLst xmlns:a="http://schemas.openxmlformats.org/drawingml/2006/main">
              <a:ext uri="{FF2B5EF4-FFF2-40B4-BE49-F238E27FC236}">
                <a16:creationId xmlns:a16="http://schemas.microsoft.com/office/drawing/2014/main" id="{12BC6492-F033-4D95-B0C6-8753C262E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5CA12-30CA-4B5E-844A-21164BDCF632}"/>
              </a:ext>
            </a:extLst>
          </p:cNvPr>
          <p:cNvGraphicFramePr/>
          <p:nvPr/>
        </p:nvGraphicFramePr>
        <p:xfrm>
          <a:off xmlns:a="http://schemas.openxmlformats.org/drawingml/2006/main" x="609600" y="1581150"/>
          <a:ext xmlns:a="http://schemas.openxmlformats.org/drawingml/2006/main" cx="10972800" cy="37338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762250"/>
                <a:gridCol w="3276600"/>
                <a:gridCol w="493395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产品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围绕什么组织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最顺手的事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</a:tr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对讲系统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频道、队伍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一群人及时说话、协调行动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微信等即时通讯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联系人、群关系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持续沟通、交换消息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838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高德等地图群组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队伍或当次出行场景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同行协作、交流路上情况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8382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EEF2F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声呐的产品目标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284BC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EEF2F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地点、事件、个人需求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284BC1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EEF2F6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找消息、问现场、把回应接回来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284BC1"/>
                    </a:solidFill>
                  </a:tcPr>
                </a:tc>
              </a:tr>
            </a:tbl>
          </a:graphicData>
        </a:graphic>
      </p:graphicFrame>
      <p:sp>
        <p:nvSpPr>
          <p:cNvPr id="4" name="少找人，少翻群，少盯着等。">
            <a:extLst xmlns:a="http://schemas.openxmlformats.org/drawingml/2006/main">
              <a:ext uri="{FF2B5EF4-FFF2-40B4-BE49-F238E27FC236}">
                <a16:creationId xmlns:a16="http://schemas.microsoft.com/office/drawing/2014/main" id="{734899D9-1C06-40F1-8336-3EFD82D3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少找人，少翻群，少盯着等。</a:t>
            </a:r>
          </a:p>
        </p:txBody>
      </p:sp>
      <p:sp>
        <p:nvSpPr>
          <p:cNvPr id="5" name="按典型组织方式比较。对讲、IM 和地图产品的功能均有交叉">
            <a:extLst xmlns:a="http://schemas.openxmlformats.org/drawingml/2006/main">
              <a:ext uri="{FF2B5EF4-FFF2-40B4-BE49-F238E27FC236}">
                <a16:creationId xmlns:a16="http://schemas.microsoft.com/office/drawing/2014/main" id="{AA2BEA14-1A26-44CB-973D-0F402224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按典型组织方式比较。对讲、IM 和地图产品的功能均有交叉，资料与范围见附录。</a:t>
            </a:r>
          </a:p>
        </p:txBody>
      </p:sp>
    </p:spTree>
    <p:extLst>
      <p:ext uri="{BB962C8B-B14F-4D97-AF65-F5344CB8AC3E}">
        <p14:creationId xmlns:p14="http://schemas.microsoft.com/office/powerpoint/2010/main" val="9139126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用户少做的三件事，就是声呐的价值">
            <a:extLst xmlns:a="http://schemas.openxmlformats.org/drawingml/2006/main">
              <a:ext uri="{FF2B5EF4-FFF2-40B4-BE49-F238E27FC236}">
                <a16:creationId xmlns:a16="http://schemas.microsoft.com/office/drawing/2014/main" id="{0D61CE22-EA20-411B-BCB2-B1D2A693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用户少做的三件事，就是声呐的价值</a:t>
            </a:r>
          </a:p>
        </p:txBody>
      </p:sp>
      <p:sp>
        <p:nvSpPr>
          <p:cNvPr id="2" name="05">
            <a:extLst xmlns:a="http://schemas.openxmlformats.org/drawingml/2006/main">
              <a:ext uri="{FF2B5EF4-FFF2-40B4-BE49-F238E27FC236}">
                <a16:creationId xmlns:a16="http://schemas.microsoft.com/office/drawing/2014/main" id="{105678B6-AF37-4CFE-918B-BC284E9D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不用先找人、找群">
            <a:extLst xmlns:a="http://schemas.openxmlformats.org/drawingml/2006/main">
              <a:ext uri="{FF2B5EF4-FFF2-40B4-BE49-F238E27FC236}">
                <a16:creationId xmlns:a16="http://schemas.microsoft.com/office/drawing/2014/main" id="{354F6FEE-52D6-4BCF-8088-BC97CEA3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不用先找人、找群</a:t>
            </a:r>
          </a:p>
        </p:txBody>
      </p:sp>
      <p:sp>
        <p:nvSpPr>
          <p:cNvPr id="4" name="说出地点和问题，Agent 去找适用消息和回应者。">
            <a:extLst xmlns:a="http://schemas.openxmlformats.org/drawingml/2006/main">
              <a:ext uri="{FF2B5EF4-FFF2-40B4-BE49-F238E27FC236}">
                <a16:creationId xmlns:a16="http://schemas.microsoft.com/office/drawing/2014/main" id="{BAE16E71-12DF-4D93-B9AE-23B70B8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914525"/>
            <a:ext cx="6324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说出地点和问题，Agent 去找适用消息和回应者。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9A9FF-9399-45DD-AAC4-B40B75962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问完可以继续走">
            <a:extLst xmlns:a="http://schemas.openxmlformats.org/drawingml/2006/main">
              <a:ext uri="{FF2B5EF4-FFF2-40B4-BE49-F238E27FC236}">
                <a16:creationId xmlns:a16="http://schemas.microsoft.com/office/drawing/2014/main" id="{EB53D475-5F6B-43AA-ABBB-FC81C3233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问完可以继续走</a:t>
            </a:r>
          </a:p>
        </p:txBody>
      </p:sp>
      <p:sp>
        <p:nvSpPr>
          <p:cNvPr id="7" name="Agent 记住这次需要，回应回来再接给你。">
            <a:extLst xmlns:a="http://schemas.openxmlformats.org/drawingml/2006/main">
              <a:ext uri="{FF2B5EF4-FFF2-40B4-BE49-F238E27FC236}">
                <a16:creationId xmlns:a16="http://schemas.microsoft.com/office/drawing/2014/main" id="{B4DF7F9B-8BB3-4802-9599-8E036731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71850"/>
            <a:ext cx="6324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Agent 记住这次需要，回应回来再接给你。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05628-F7F5-4077-9196-1C6AC277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一条声音可以帮到下一位">
            <a:extLst xmlns:a="http://schemas.openxmlformats.org/drawingml/2006/main">
              <a:ext uri="{FF2B5EF4-FFF2-40B4-BE49-F238E27FC236}">
                <a16:creationId xmlns:a16="http://schemas.microsoft.com/office/drawing/2014/main" id="{1E174372-BAA1-4573-89E9-542CDBD0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4191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一条声音可以帮到下一位</a:t>
            </a:r>
          </a:p>
        </p:txBody>
      </p:sp>
      <p:sp>
        <p:nvSpPr>
          <p:cNvPr id="10" name="仍适用的观察和公告，能被后来的需求找到。">
            <a:extLst xmlns:a="http://schemas.openxmlformats.org/drawingml/2006/main">
              <a:ext uri="{FF2B5EF4-FFF2-40B4-BE49-F238E27FC236}">
                <a16:creationId xmlns:a16="http://schemas.microsoft.com/office/drawing/2014/main" id="{6492E333-654D-4B55-9543-2D9ADB9D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829175"/>
            <a:ext cx="6324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仍适用的观察和公告，能被后来的需求找到。</a:t>
            </a:r>
          </a:p>
        </p:txBody>
      </p:sp>
    </p:spTree>
    <p:extLst>
      <p:ext uri="{BB962C8B-B14F-4D97-AF65-F5344CB8AC3E}">
        <p14:creationId xmlns:p14="http://schemas.microsoft.com/office/powerpoint/2010/main" val="1950181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当场能回应，也能错开时间接上话">
            <a:extLst xmlns:a="http://schemas.openxmlformats.org/drawingml/2006/main">
              <a:ext uri="{FF2B5EF4-FFF2-40B4-BE49-F238E27FC236}">
                <a16:creationId xmlns:a16="http://schemas.microsoft.com/office/drawing/2014/main" id="{48B4ADD3-1598-4096-A8EC-93960B96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当场能回应，也能错开时间接上话</a:t>
            </a:r>
          </a:p>
        </p:txBody>
      </p:sp>
      <p:sp>
        <p:nvSpPr>
          <p:cNvPr id="2" name="06">
            <a:extLst xmlns:a="http://schemas.openxmlformats.org/drawingml/2006/main">
              <a:ext uri="{FF2B5EF4-FFF2-40B4-BE49-F238E27FC236}">
                <a16:creationId xmlns:a16="http://schemas.microsoft.com/office/drawing/2014/main" id="{B6BE4A84-F29F-4C93-8292-5419F301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即时往返">
            <a:extLst xmlns:a="http://schemas.openxmlformats.org/drawingml/2006/main">
              <a:ext uri="{FF2B5EF4-FFF2-40B4-BE49-F238E27FC236}">
                <a16:creationId xmlns:a16="http://schemas.microsoft.com/office/drawing/2014/main" id="{690312CF-4303-4D6B-9EB2-BDCBDCFC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即时往返</a:t>
            </a:r>
          </a:p>
        </p:txBody>
      </p:sp>
      <p:sp>
        <p:nvSpPr>
          <p:cNvPr id="4" name="异步接话">
            <a:extLst xmlns:a="http://schemas.openxmlformats.org/drawingml/2006/main">
              <a:ext uri="{FF2B5EF4-FFF2-40B4-BE49-F238E27FC236}">
                <a16:creationId xmlns:a16="http://schemas.microsoft.com/office/drawing/2014/main" id="{B3FA9E35-A524-40B2-9A9E-760AFF23C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573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异步接话</a:t>
            </a:r>
          </a:p>
        </p:txBody>
      </p:sp>
      <p:sp>
        <p:nvSpPr>
          <p:cNvPr id="5" name="你问一句，对方回一句。">
            <a:extLst xmlns:a="http://schemas.openxmlformats.org/drawingml/2006/main">
              <a:ext uri="{FF2B5EF4-FFF2-40B4-BE49-F238E27FC236}">
                <a16:creationId xmlns:a16="http://schemas.microsoft.com/office/drawing/2014/main" id="{29E8D688-F416-4F73-A3B4-71E9E1671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0275"/>
            <a:ext cx="5086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你问一句，对方回一句。</a:t>
            </a:r>
          </a:p>
        </p:txBody>
      </p:sp>
      <p:sp>
        <p:nvSpPr>
          <p:cNvPr id="6" name="先留下声音，需要时再听。">
            <a:extLst xmlns:a="http://schemas.openxmlformats.org/drawingml/2006/main">
              <a:ext uri="{FF2B5EF4-FFF2-40B4-BE49-F238E27FC236}">
                <a16:creationId xmlns:a16="http://schemas.microsoft.com/office/drawing/2014/main" id="{139749D4-4EBA-4D7C-90AB-B0C86ACD2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5086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先留下声音，需要时再听。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D81AD8-FBED-422B-9E87-F7231689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你：西门现在还排队吗？">
            <a:extLst xmlns:a="http://schemas.openxmlformats.org/drawingml/2006/main">
              <a:ext uri="{FF2B5EF4-FFF2-40B4-BE49-F238E27FC236}">
                <a16:creationId xmlns:a16="http://schemas.microsoft.com/office/drawing/2014/main" id="{986E1341-FB00-479B-9043-FC95A169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343275"/>
            <a:ext cx="4562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你：西门现在还排队吗？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34BCB-2C93-49C2-A0C0-020E0DF7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480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先前的车主：东门入口在排队。">
            <a:extLst xmlns:a="http://schemas.openxmlformats.org/drawingml/2006/main">
              <a:ext uri="{FF2B5EF4-FFF2-40B4-BE49-F238E27FC236}">
                <a16:creationId xmlns:a16="http://schemas.microsoft.com/office/drawing/2014/main" id="{ADAFE359-7FED-4913-A706-FB8504A45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3343275"/>
            <a:ext cx="4562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先前的车主：东门入口在排队。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96BA4-B3D8-4585-B6D8-33A20589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EE4A4D-695B-4109-BF90-DE7D3F35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46FDC7-5ABA-409C-9B46-BF0F298E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现场车主：刚开始放行。">
            <a:extLst xmlns:a="http://schemas.openxmlformats.org/drawingml/2006/main">
              <a:ext uri="{FF2B5EF4-FFF2-40B4-BE49-F238E27FC236}">
                <a16:creationId xmlns:a16="http://schemas.microsoft.com/office/drawing/2014/main" id="{4FCF2C69-9B9F-42EC-BD5F-A91AA6C2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391025"/>
            <a:ext cx="4562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现场车主：刚开始放行。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5E917-6F24-4D54-822B-4CF1DB47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95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稍后的你：哪个入口好进？">
            <a:extLst xmlns:a="http://schemas.openxmlformats.org/drawingml/2006/main">
              <a:ext uri="{FF2B5EF4-FFF2-40B4-BE49-F238E27FC236}">
                <a16:creationId xmlns:a16="http://schemas.microsoft.com/office/drawing/2014/main" id="{BF3D655A-DF12-480F-8EE1-F352E50C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391025"/>
            <a:ext cx="4562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稍后的你：哪个入口好进？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C93285-F4AC-4B58-B5E8-78381D21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0535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9F500-7C73-4202-A91E-525B2AA9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05350"/>
            <a:ext cx="381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3B5E5F-A529-4A7A-86E3-3399FC6E5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你：谢谢，我知道怎么安排了。">
            <a:extLst xmlns:a="http://schemas.openxmlformats.org/drawingml/2006/main">
              <a:ext uri="{FF2B5EF4-FFF2-40B4-BE49-F238E27FC236}">
                <a16:creationId xmlns:a16="http://schemas.microsoft.com/office/drawing/2014/main" id="{50AE7419-B801-426A-884A-CAD89585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438775"/>
            <a:ext cx="45624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你：谢谢，我知道怎么安排了。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5696B1-6FEE-4647-B27C-0E619E8F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435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gent 找到仍适用的地点声音。">
            <a:extLst xmlns:a="http://schemas.openxmlformats.org/drawingml/2006/main">
              <a:ext uri="{FF2B5EF4-FFF2-40B4-BE49-F238E27FC236}">
                <a16:creationId xmlns:a16="http://schemas.microsoft.com/office/drawing/2014/main" id="{E5108FD9-F413-4160-98B7-2234BAF1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438775"/>
            <a:ext cx="45624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Agent 找到仍适用的地点声音。</a:t>
            </a:r>
          </a:p>
        </p:txBody>
      </p:sp>
    </p:spTree>
    <p:extLst>
      <p:ext uri="{BB962C8B-B14F-4D97-AF65-F5344CB8AC3E}">
        <p14:creationId xmlns:p14="http://schemas.microsoft.com/office/powerpoint/2010/main" val="2282599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一句“西门还有位吗”，怎样得到回应">
            <a:extLst xmlns:a="http://schemas.openxmlformats.org/drawingml/2006/main">
              <a:ext uri="{FF2B5EF4-FFF2-40B4-BE49-F238E27FC236}">
                <a16:creationId xmlns:a16="http://schemas.microsoft.com/office/drawing/2014/main" id="{F2DE4776-9669-4A2D-B3D5-969FB93C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一句“西门还有位吗”，怎样得到回应</a:t>
            </a:r>
          </a:p>
        </p:txBody>
      </p:sp>
      <p:sp>
        <p:nvSpPr>
          <p:cNvPr id="2" name="07">
            <a:extLst xmlns:a="http://schemas.openxmlformats.org/drawingml/2006/main">
              <a:ext uri="{FF2B5EF4-FFF2-40B4-BE49-F238E27FC236}">
                <a16:creationId xmlns:a16="http://schemas.microsoft.com/office/drawing/2014/main" id="{B0903BDE-586E-4DFB-AB85-3D1AC969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“帮我问问西门停车场现在还有位吗？”">
            <a:extLst xmlns:a="http://schemas.openxmlformats.org/drawingml/2006/main">
              <a:ext uri="{FF2B5EF4-FFF2-40B4-BE49-F238E27FC236}">
                <a16:creationId xmlns:a16="http://schemas.microsoft.com/office/drawing/2014/main" id="{C3B8674D-F18E-41E2-8550-8D5E463D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109537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6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“帮我问问西门停车场现在还有位吗？”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F3421-2770-4EE3-B48B-4E89A172E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" y="3139440"/>
            <a:ext cx="213360" cy="21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4D446-C2BB-4E4A-87FE-C40F6BE0F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2F9D69-27E8-40BE-80FA-1F49ADF46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200400"/>
            <a:ext cx="7810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72E127-26E7-43EE-A75F-89BE6186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0EE0A-BBBC-4CE3-B8BA-C7045DEE7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040BF-4032-4CDA-9E0C-43CA35AF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38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B92429-6AFD-4D9A-8FEB-858FABE9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90875"/>
            <a:ext cx="83820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声呐">
            <a:extLst xmlns:a="http://schemas.openxmlformats.org/drawingml/2006/main">
              <a:ext uri="{FF2B5EF4-FFF2-40B4-BE49-F238E27FC236}">
                <a16:creationId xmlns:a16="http://schemas.microsoft.com/office/drawing/2014/main" id="{E6634176-D5C4-433E-B7FD-7D286C539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352800"/>
            <a:ext cx="66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声呐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1EB69F-7052-44B6-8219-DCE63422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200400"/>
            <a:ext cx="7810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2CED01-4044-4C82-B54A-83D8832B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C9625-ACF2-4FEC-B8A1-B2F775E6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09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0694F8-3531-4ABA-B1E2-EBFAFE1D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38550"/>
            <a:ext cx="28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A24232-50C9-4798-8E0D-96996118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420" y="3139440"/>
            <a:ext cx="213360" cy="213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F5F5AC-7AC6-48A6-BF49-D3CCAAB36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429000"/>
            <a:ext cx="457200" cy="3200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EBA677-4AF3-417A-8A37-6A5AF3362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409950"/>
            <a:ext cx="1047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425E2D-098D-41D0-A218-3CBDDB58C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409950"/>
            <a:ext cx="1047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6D5013-9F27-4513-8CF7-EAE9208F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9950"/>
            <a:ext cx="1047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A7C0D-07F9-4E20-A15C-FB74EE300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09950"/>
            <a:ext cx="1047750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84B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你开口">
            <a:extLst xmlns:a="http://schemas.openxmlformats.org/drawingml/2006/main">
              <a:ext uri="{FF2B5EF4-FFF2-40B4-BE49-F238E27FC236}">
                <a16:creationId xmlns:a16="http://schemas.microsoft.com/office/drawing/2014/main" id="{AF998B19-09F5-42D2-BCFB-42C22B29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43375"/>
            <a:ext cx="1819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你开口</a:t>
            </a:r>
          </a:p>
        </p:txBody>
      </p:sp>
      <p:sp>
        <p:nvSpPr>
          <p:cNvPr id="23" name="说地点和问题">
            <a:extLst xmlns:a="http://schemas.openxmlformats.org/drawingml/2006/main">
              <a:ext uri="{FF2B5EF4-FFF2-40B4-BE49-F238E27FC236}">
                <a16:creationId xmlns:a16="http://schemas.microsoft.com/office/drawing/2014/main" id="{62B0ADDE-5CD8-45B9-97C3-BB0062C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76775"/>
            <a:ext cx="1819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说地点和问题</a:t>
            </a:r>
          </a:p>
        </p:txBody>
      </p:sp>
      <p:sp>
        <p:nvSpPr>
          <p:cNvPr id="24" name="你的 Agent">
            <a:extLst xmlns:a="http://schemas.openxmlformats.org/drawingml/2006/main">
              <a:ext uri="{FF2B5EF4-FFF2-40B4-BE49-F238E27FC236}">
                <a16:creationId xmlns:a16="http://schemas.microsoft.com/office/drawing/2014/main" id="{CDCCD48E-DAD6-4CF3-A463-11F41E637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143375"/>
            <a:ext cx="1819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你的 Agent</a:t>
            </a:r>
          </a:p>
        </p:txBody>
      </p:sp>
      <p:sp>
        <p:nvSpPr>
          <p:cNvPr id="25" name="理解这次需要">
            <a:extLst xmlns:a="http://schemas.openxmlformats.org/drawingml/2006/main">
              <a:ext uri="{FF2B5EF4-FFF2-40B4-BE49-F238E27FC236}">
                <a16:creationId xmlns:a16="http://schemas.microsoft.com/office/drawing/2014/main" id="{6C1BF229-9E7C-4AE2-81E9-5ABC70AA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676775"/>
            <a:ext cx="1819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理解这次需要</a:t>
            </a:r>
          </a:p>
        </p:txBody>
      </p:sp>
      <p:sp>
        <p:nvSpPr>
          <p:cNvPr id="26" name="网络找来源">
            <a:extLst xmlns:a="http://schemas.openxmlformats.org/drawingml/2006/main">
              <a:ext uri="{FF2B5EF4-FFF2-40B4-BE49-F238E27FC236}">
                <a16:creationId xmlns:a16="http://schemas.microsoft.com/office/drawing/2014/main" id="{C0488995-D899-4A75-8525-84DE04F6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43375"/>
            <a:ext cx="1819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网络找来源</a:t>
            </a:r>
          </a:p>
        </p:txBody>
      </p:sp>
      <p:sp>
        <p:nvSpPr>
          <p:cNvPr id="27" name="查已有消息&#10;匹配在场的人">
            <a:extLst xmlns:a="http://schemas.openxmlformats.org/drawingml/2006/main">
              <a:ext uri="{FF2B5EF4-FFF2-40B4-BE49-F238E27FC236}">
                <a16:creationId xmlns:a16="http://schemas.microsoft.com/office/drawing/2014/main" id="{000CD852-ED9D-4E45-AB70-1EBD7E0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676775"/>
            <a:ext cx="1819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查已有消息</a:t>
            </a:r>
          </a:p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匹配在场的人</a:t>
            </a:r>
          </a:p>
        </p:txBody>
      </p:sp>
      <p:sp>
        <p:nvSpPr>
          <p:cNvPr id="28" name="对方的 Agent">
            <a:extLst xmlns:a="http://schemas.openxmlformats.org/drawingml/2006/main">
              <a:ext uri="{FF2B5EF4-FFF2-40B4-BE49-F238E27FC236}">
                <a16:creationId xmlns:a16="http://schemas.microsoft.com/office/drawing/2014/main" id="{7CDFE484-0A82-4575-9FD3-87F149A78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143375"/>
            <a:ext cx="1819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对方的 Agent</a:t>
            </a:r>
          </a:p>
        </p:txBody>
      </p:sp>
      <p:sp>
        <p:nvSpPr>
          <p:cNvPr id="29" name="把相关问题&#10;交给本人">
            <a:extLst xmlns:a="http://schemas.openxmlformats.org/drawingml/2006/main">
              <a:ext uri="{FF2B5EF4-FFF2-40B4-BE49-F238E27FC236}">
                <a16:creationId xmlns:a16="http://schemas.microsoft.com/office/drawing/2014/main" id="{DF1C3A98-B1AB-4948-83DF-1EA988E1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5225" y="4676775"/>
            <a:ext cx="1819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把相关问题</a:t>
            </a:r>
          </a:p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交给本人</a:t>
            </a:r>
          </a:p>
        </p:txBody>
      </p:sp>
      <p:sp>
        <p:nvSpPr>
          <p:cNvPr id="30" name="现场车主">
            <a:extLst xmlns:a="http://schemas.openxmlformats.org/drawingml/2006/main">
              <a:ext uri="{FF2B5EF4-FFF2-40B4-BE49-F238E27FC236}">
                <a16:creationId xmlns:a16="http://schemas.microsoft.com/office/drawing/2014/main" id="{384E2E80-E299-43D8-80F8-628E88DC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43375"/>
            <a:ext cx="18192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现场车主</a:t>
            </a:r>
          </a:p>
        </p:txBody>
      </p:sp>
      <p:sp>
        <p:nvSpPr>
          <p:cNvPr id="31" name="自愿说一句&#10;保留本人原声">
            <a:extLst xmlns:a="http://schemas.openxmlformats.org/drawingml/2006/main">
              <a:ext uri="{FF2B5EF4-FFF2-40B4-BE49-F238E27FC236}">
                <a16:creationId xmlns:a16="http://schemas.microsoft.com/office/drawing/2014/main" id="{B2B4A112-DBA0-4194-8552-15A9FA7EF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676775"/>
            <a:ext cx="18192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自愿说一句</a:t>
            </a:r>
          </a:p>
          <a:p xmlns:a="http://schemas.openxmlformats.org/drawingml/2006/main">
            <a:pPr algn="ctr">
              <a:def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保留本人原声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2307BF-9E0A-42E0-B4D0-26F80E7F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38225" y="5743575"/>
            <a:ext cx="9934575" cy="114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85C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“我在西门，刚看到里面还有几个位。”">
            <a:extLst xmlns:a="http://schemas.openxmlformats.org/drawingml/2006/main">
              <a:ext uri="{FF2B5EF4-FFF2-40B4-BE49-F238E27FC236}">
                <a16:creationId xmlns:a16="http://schemas.microsoft.com/office/drawing/2014/main" id="{02D832B6-E7E2-4E20-80E0-15E4468B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019800"/>
            <a:ext cx="990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“我在西门，刚看到里面还有几个位。”</a:t>
            </a:r>
          </a:p>
        </p:txBody>
      </p:sp>
    </p:spTree>
    <p:extLst>
      <p:ext uri="{BB962C8B-B14F-4D97-AF65-F5344CB8AC3E}">
        <p14:creationId xmlns:p14="http://schemas.microsoft.com/office/powerpoint/2010/main" val="89224386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84BC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LM 听懂内容，决策模型选择动作">
            <a:extLst xmlns:a="http://schemas.openxmlformats.org/drawingml/2006/main">
              <a:ext uri="{FF2B5EF4-FFF2-40B4-BE49-F238E27FC236}">
                <a16:creationId xmlns:a16="http://schemas.microsoft.com/office/drawing/2014/main" id="{D9883058-85D8-4EFC-A155-551B7D715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LLM 听懂内容，决策模型选择动作</a:t>
            </a:r>
          </a:p>
        </p:txBody>
      </p:sp>
      <p:sp>
        <p:nvSpPr>
          <p:cNvPr id="2" name="08">
            <a:extLst xmlns:a="http://schemas.openxmlformats.org/drawingml/2006/main">
              <a:ext uri="{FF2B5EF4-FFF2-40B4-BE49-F238E27FC236}">
                <a16:creationId xmlns:a16="http://schemas.microsoft.com/office/drawing/2014/main" id="{808948B7-58B5-4B74-94EB-2039C29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BFD8EC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BFD8EC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LLM">
            <a:extLst xmlns:a="http://schemas.openxmlformats.org/drawingml/2006/main">
              <a:ext uri="{FF2B5EF4-FFF2-40B4-BE49-F238E27FC236}">
                <a16:creationId xmlns:a16="http://schemas.microsoft.com/office/drawing/2014/main" id="{4C6DB10F-6749-43AC-9276-7E625656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defPPr>
            <a:lvl1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1pPr>
            <a:lvl2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2pPr>
            <a:lvl3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3pPr>
            <a:lvl4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4pPr>
            <a:lvl5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5pPr>
            <a:lvl6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6pPr>
            <a:lvl7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7pPr>
            <a:lvl8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8pPr>
            <a:lvl9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3225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49669-D802-4A27-9890-72C1AF1A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听懂地点、事件和意图&#10;整理信息，辅助匹配">
            <a:extLst xmlns:a="http://schemas.openxmlformats.org/drawingml/2006/main">
              <a:ext uri="{FF2B5EF4-FFF2-40B4-BE49-F238E27FC236}">
                <a16:creationId xmlns:a16="http://schemas.microsoft.com/office/drawing/2014/main" id="{FB517442-6D6C-4A1D-B651-1A837C6E1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3333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听懂地点、事件和意图</a:t>
            </a:r>
          </a:p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整理信息，辅助匹配</a:t>
            </a:r>
          </a:p>
        </p:txBody>
      </p:sp>
      <p:sp>
        <p:nvSpPr>
          <p:cNvPr id="6" name="决策模型">
            <a:extLst xmlns:a="http://schemas.openxmlformats.org/drawingml/2006/main">
              <a:ext uri="{FF2B5EF4-FFF2-40B4-BE49-F238E27FC236}">
                <a16:creationId xmlns:a16="http://schemas.microsoft.com/office/drawing/2014/main" id="{C2788754-CBEE-434A-A562-6FDDE0D1C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333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决策模型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FB0CDB-FAB5-401C-A1B4-5B09DEC8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71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内容分类和审核&#10;选择通过、拦截或复核&#10;判断邀请与收听时机">
            <a:extLst xmlns:a="http://schemas.openxmlformats.org/drawingml/2006/main">
              <a:ext uri="{FF2B5EF4-FFF2-40B4-BE49-F238E27FC236}">
                <a16:creationId xmlns:a16="http://schemas.microsoft.com/office/drawing/2014/main" id="{7BE0979D-E888-4A23-BEA5-42A96B52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333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内容分类和审核</a:t>
            </a:r>
          </a:p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选择通过、拦截或复核</a:t>
            </a:r>
          </a:p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判断邀请与收听时机</a:t>
            </a:r>
          </a:p>
        </p:txBody>
      </p:sp>
      <p:sp>
        <p:nvSpPr>
          <p:cNvPr id="9" name="网络服务">
            <a:extLst xmlns:a="http://schemas.openxmlformats.org/drawingml/2006/main">
              <a:ext uri="{FF2B5EF4-FFF2-40B4-BE49-F238E27FC236}">
                <a16:creationId xmlns:a16="http://schemas.microsoft.com/office/drawing/2014/main" id="{0C444C27-A0C7-4A12-BCFD-2709A368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33337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网络服务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FE0345-FFEF-4139-9DC3-AAF15FE71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7180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检索消息、分发请求&#10;保存原声与来源&#10;把回应接回这次需求">
            <a:extLst xmlns:a="http://schemas.openxmlformats.org/drawingml/2006/main">
              <a:ext uri="{FF2B5EF4-FFF2-40B4-BE49-F238E27FC236}">
                <a16:creationId xmlns:a16="http://schemas.microsoft.com/office/drawing/2014/main" id="{FD4388A8-B104-41B5-B5CF-C6CB04DA3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333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检索消息、分发请求</a:t>
            </a:r>
          </a:p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保存原声与来源</a:t>
            </a:r>
          </a:p>
          <a:p xmlns:a="http://schemas.openxmlformats.org/drawingml/2006/main">
            <a:pPr algn="l">
              <a:def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把回应接回这次需求</a:t>
            </a:r>
          </a:p>
        </p:txBody>
      </p:sp>
      <p:sp>
        <p:nvSpPr>
          <p:cNvPr id="12" name="人说出所见，AI 负责组织、匹配和跟进。">
            <a:extLst xmlns:a="http://schemas.openxmlformats.org/drawingml/2006/main">
              <a:ext uri="{FF2B5EF4-FFF2-40B4-BE49-F238E27FC236}">
                <a16:creationId xmlns:a16="http://schemas.microsoft.com/office/drawing/2014/main" id="{A2271BFD-6555-4FB3-A3EE-9DC63630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55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人说出所见，AI 负责组织、匹配和跟进。</a:t>
            </a:r>
          </a:p>
        </p:txBody>
      </p:sp>
    </p:spTree>
    <p:extLst>
      <p:ext uri="{BB962C8B-B14F-4D97-AF65-F5344CB8AC3E}">
        <p14:creationId xmlns:p14="http://schemas.microsoft.com/office/powerpoint/2010/main" val="21058886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人在路上，信息和服务都能接进来">
            <a:extLst xmlns:a="http://schemas.openxmlformats.org/drawingml/2006/main">
              <a:ext uri="{FF2B5EF4-FFF2-40B4-BE49-F238E27FC236}">
                <a16:creationId xmlns:a16="http://schemas.microsoft.com/office/drawing/2014/main" id="{10213E2E-B9BF-4F02-9787-BF6DF381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人在路上，信息和服务都能接进来</a:t>
            </a:r>
          </a:p>
        </p:txBody>
      </p:sp>
      <p:sp>
        <p:nvSpPr>
          <p:cNvPr id="2" name="09">
            <a:extLst xmlns:a="http://schemas.openxmlformats.org/drawingml/2006/main">
              <a:ext uri="{FF2B5EF4-FFF2-40B4-BE49-F238E27FC236}">
                <a16:creationId xmlns:a16="http://schemas.microsoft.com/office/drawing/2014/main" id="{D2E51A0C-224A-45BC-A39D-52EEDE01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认证 POI 公告">
            <a:extLst xmlns:a="http://schemas.openxmlformats.org/drawingml/2006/main">
              <a:ext uri="{FF2B5EF4-FFF2-40B4-BE49-F238E27FC236}">
                <a16:creationId xmlns:a16="http://schemas.microsoft.com/office/drawing/2014/main" id="{4E4FD54F-C7DA-4DB5-89D1-6DF3343B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309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认证 POI 公告</a:t>
            </a:r>
          </a:p>
        </p:txBody>
      </p:sp>
      <p:sp>
        <p:nvSpPr>
          <p:cNvPr id="4" name="“B2 车位紧张，请前往 B3。”">
            <a:extLst xmlns:a="http://schemas.openxmlformats.org/drawingml/2006/main">
              <a:ext uri="{FF2B5EF4-FFF2-40B4-BE49-F238E27FC236}">
                <a16:creationId xmlns:a16="http://schemas.microsoft.com/office/drawing/2014/main" id="{FBB75E70-CC4B-4BAA-9379-A8C110E1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781175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“B2 车位紧张，请前往 B3。”</a:t>
            </a:r>
          </a:p>
        </p:txBody>
      </p:sp>
      <p:sp>
        <p:nvSpPr>
          <p:cNvPr id="5" name="物业、景区、停车场维护地点信息">
            <a:extLst xmlns:a="http://schemas.openxmlformats.org/drawingml/2006/main">
              <a:ext uri="{FF2B5EF4-FFF2-40B4-BE49-F238E27FC236}">
                <a16:creationId xmlns:a16="http://schemas.microsoft.com/office/drawing/2014/main" id="{FC09C2AD-5B21-4B44-B3A0-282041ED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43840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物业、景区、停车场维护地点信息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7EADA-BAE7-4071-BE3F-1B00A45E1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品牌服务">
            <a:extLst xmlns:a="http://schemas.openxmlformats.org/drawingml/2006/main">
              <a:ext uri="{FF2B5EF4-FFF2-40B4-BE49-F238E27FC236}">
                <a16:creationId xmlns:a16="http://schemas.microsoft.com/office/drawing/2014/main" id="{927B2453-EDF0-4005-986A-51F55120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309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品牌服务</a:t>
            </a:r>
          </a:p>
        </p:txBody>
      </p:sp>
      <p:sp>
        <p:nvSpPr>
          <p:cNvPr id="8" name="“附近有能补胎的门店吗？”">
            <a:extLst xmlns:a="http://schemas.openxmlformats.org/drawingml/2006/main">
              <a:ext uri="{FF2B5EF4-FFF2-40B4-BE49-F238E27FC236}">
                <a16:creationId xmlns:a16="http://schemas.microsoft.com/office/drawing/2014/main" id="{988FC487-766B-4475-8243-9F0A4B23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95650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“附近有能补胎的门店吗？”</a:t>
            </a:r>
          </a:p>
        </p:txBody>
      </p:sp>
      <p:sp>
        <p:nvSpPr>
          <p:cNvPr id="9" name="按明确需求连接品牌与服务商">
            <a:extLst xmlns:a="http://schemas.openxmlformats.org/drawingml/2006/main">
              <a:ext uri="{FF2B5EF4-FFF2-40B4-BE49-F238E27FC236}">
                <a16:creationId xmlns:a16="http://schemas.microsoft.com/office/drawing/2014/main" id="{B7C75106-B0B6-4CB5-97CA-9D1A1DDD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952875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按明确需求连接品牌与服务商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17CB5-B4E4-439B-9DD9-108EF69D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拼车与用车撮合">
            <a:extLst xmlns:a="http://schemas.openxmlformats.org/drawingml/2006/main">
              <a:ext uri="{FF2B5EF4-FFF2-40B4-BE49-F238E27FC236}">
                <a16:creationId xmlns:a16="http://schemas.microsoft.com/office/drawing/2014/main" id="{279C7A0E-125C-47E3-91AB-2D4651DE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9650"/>
            <a:ext cx="30956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拼车与用车撮合</a:t>
            </a:r>
          </a:p>
        </p:txBody>
      </p:sp>
      <p:sp>
        <p:nvSpPr>
          <p:cNvPr id="12" name="“有没有同方向、时间合适的车？”">
            <a:extLst xmlns:a="http://schemas.openxmlformats.org/drawingml/2006/main">
              <a:ext uri="{FF2B5EF4-FFF2-40B4-BE49-F238E27FC236}">
                <a16:creationId xmlns:a16="http://schemas.microsoft.com/office/drawing/2014/main" id="{CE614531-4C18-45BE-9505-052F8B7C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810125"/>
            <a:ext cx="75247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7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“有没有同方向、时间合适的车？”</a:t>
            </a:r>
          </a:p>
        </p:txBody>
      </p:sp>
      <p:sp>
        <p:nvSpPr>
          <p:cNvPr id="13" name="把明确出行需求交给合作供给方">
            <a:extLst xmlns:a="http://schemas.openxmlformats.org/drawingml/2006/main">
              <a:ext uri="{FF2B5EF4-FFF2-40B4-BE49-F238E27FC236}">
                <a16:creationId xmlns:a16="http://schemas.microsoft.com/office/drawing/2014/main" id="{A9D44C72-ADE3-473F-BEE4-A2D262FA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5467350"/>
            <a:ext cx="7524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把明确出行需求交给合作供给方</a:t>
            </a:r>
          </a:p>
        </p:txBody>
      </p:sp>
      <p:sp>
        <p:nvSpPr>
          <p:cNvPr id="14" name="商业路径规划：先验证场所信息服务，再验证品牌服务与撮合。">
            <a:extLst xmlns:a="http://schemas.openxmlformats.org/drawingml/2006/main">
              <a:ext uri="{FF2B5EF4-FFF2-40B4-BE49-F238E27FC236}">
                <a16:creationId xmlns:a16="http://schemas.microsoft.com/office/drawing/2014/main" id="{47C5988B-E54F-41AD-B102-904A0552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商业路径规划：先验证场所信息服务，再验证品牌服务与撮合。</a:t>
            </a:r>
          </a:p>
        </p:txBody>
      </p:sp>
    </p:spTree>
    <p:extLst>
      <p:ext uri="{BB962C8B-B14F-4D97-AF65-F5344CB8AC3E}">
        <p14:creationId xmlns:p14="http://schemas.microsoft.com/office/powerpoint/2010/main" val="6242462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谁付钱，为什么付钱，怎样收费">
            <a:extLst xmlns:a="http://schemas.openxmlformats.org/drawingml/2006/main">
              <a:ext uri="{FF2B5EF4-FFF2-40B4-BE49-F238E27FC236}">
                <a16:creationId xmlns:a16="http://schemas.microsoft.com/office/drawing/2014/main" id="{1ABFE1C8-24C7-4C3E-AE6B-77336FB1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谁付钱，为什么付钱，怎样收费</a:t>
            </a:r>
          </a:p>
        </p:txBody>
      </p:sp>
      <p:sp>
        <p:nvSpPr>
          <p:cNvPr id="2" name="10">
            <a:extLst xmlns:a="http://schemas.openxmlformats.org/drawingml/2006/main">
              <a:ext uri="{FF2B5EF4-FFF2-40B4-BE49-F238E27FC236}">
                <a16:creationId xmlns:a16="http://schemas.microsoft.com/office/drawing/2014/main" id="{BFB2E825-8028-4719-BA2E-866C1D5B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C7D79-9556-48C4-9488-2F19B39100E0}"/>
              </a:ext>
            </a:extLst>
          </p:cNvPr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638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67050"/>
                <a:gridCol w="4714875"/>
                <a:gridCol w="3190875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候选付费方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购买什么价值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收入方式设想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</a:tr>
              <a:tr h="771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停车场、景区、物业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公告管理与到访者信息服务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试点服务费、订阅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71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主机厂、集成方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车内语音网络接入与运营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集成费、运营服务费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71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品牌、服务商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连接明确需求与可履约服务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服务费、成交分成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715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出行合作平台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明确供需匹配与用户转介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800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撮合费、合作分成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第一笔收入，先向场所运营方验证。">
            <a:extLst xmlns:a="http://schemas.openxmlformats.org/drawingml/2006/main">
              <a:ext uri="{FF2B5EF4-FFF2-40B4-BE49-F238E27FC236}">
                <a16:creationId xmlns:a16="http://schemas.microsoft.com/office/drawing/2014/main" id="{3A963537-044D-432F-B95E-06D25BBF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7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第一笔收入，先向场所运营方验证。</a:t>
            </a:r>
          </a:p>
        </p:txBody>
      </p:sp>
      <p:sp>
        <p:nvSpPr>
          <p:cNvPr id="5" name="以上均为商业假设。当前没有已确认的声呐付费、收入或预装订">
            <a:extLst xmlns:a="http://schemas.openxmlformats.org/drawingml/2006/main">
              <a:ext uri="{FF2B5EF4-FFF2-40B4-BE49-F238E27FC236}">
                <a16:creationId xmlns:a16="http://schemas.microsoft.com/office/drawing/2014/main" id="{5C5DCF62-F1F8-463C-94C8-6585E5689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以上均为商业假设。当前没有已确认的声呐付费、收入或预装订单。</a:t>
            </a:r>
          </a:p>
        </p:txBody>
      </p:sp>
    </p:spTree>
    <p:extLst>
      <p:ext uri="{BB962C8B-B14F-4D97-AF65-F5344CB8AC3E}">
        <p14:creationId xmlns:p14="http://schemas.microsoft.com/office/powerpoint/2010/main" val="7736537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从一个停车场，验证第一笔付费">
            <a:extLst xmlns:a="http://schemas.openxmlformats.org/drawingml/2006/main">
              <a:ext uri="{FF2B5EF4-FFF2-40B4-BE49-F238E27FC236}">
                <a16:creationId xmlns:a16="http://schemas.microsoft.com/office/drawing/2014/main" id="{3C59BC59-B511-4D1D-93D2-4F7789A2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从一个停车场，验证第一笔付费</a:t>
            </a:r>
          </a:p>
        </p:txBody>
      </p:sp>
      <p:sp>
        <p:nvSpPr>
          <p:cNvPr id="2" name="11">
            <a:extLst xmlns:a="http://schemas.openxmlformats.org/drawingml/2006/main">
              <a:ext uri="{FF2B5EF4-FFF2-40B4-BE49-F238E27FC236}">
                <a16:creationId xmlns:a16="http://schemas.microsoft.com/office/drawing/2014/main" id="{FD920749-99AA-4A0F-801A-F3DD178BD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先有可用的消息">
            <a:extLst xmlns:a="http://schemas.openxmlformats.org/drawingml/2006/main">
              <a:ext uri="{FF2B5EF4-FFF2-40B4-BE49-F238E27FC236}">
                <a16:creationId xmlns:a16="http://schemas.microsoft.com/office/drawing/2014/main" id="{E6322EFF-C716-4101-B5D5-C6A39608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先有可用的消息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B8F49-4159-45E7-B594-C3C44166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运营方提供基础公告&#10;小范围车主补充观察">
            <a:extLst xmlns:a="http://schemas.openxmlformats.org/drawingml/2006/main">
              <a:ext uri="{FF2B5EF4-FFF2-40B4-BE49-F238E27FC236}">
                <a16:creationId xmlns:a16="http://schemas.microsoft.com/office/drawing/2014/main" id="{132BC79B-F7D9-4802-837D-602170C2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运营方提供基础公告</a:t>
            </a:r>
          </a:p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小范围车主补充观察</a:t>
            </a:r>
          </a:p>
        </p:txBody>
      </p:sp>
      <p:sp>
        <p:nvSpPr>
          <p:cNvPr id="6" name="再有有用的对话">
            <a:extLst xmlns:a="http://schemas.openxmlformats.org/drawingml/2006/main">
              <a:ext uri="{FF2B5EF4-FFF2-40B4-BE49-F238E27FC236}">
                <a16:creationId xmlns:a16="http://schemas.microsoft.com/office/drawing/2014/main" id="{A2FA4C65-8C2B-4EE2-8998-FD3BFAA7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431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再有有用的对话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0149F-A21C-4AF7-84AD-88BA6D792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19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能否问到、等到回应&#10;愿不愿意再次使用">
            <a:extLst xmlns:a="http://schemas.openxmlformats.org/drawingml/2006/main">
              <a:ext uri="{FF2B5EF4-FFF2-40B4-BE49-F238E27FC236}">
                <a16:creationId xmlns:a16="http://schemas.microsoft.com/office/drawing/2014/main" id="{9A003A67-5670-4364-AC43-6141443A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14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能否问到、等到回应</a:t>
            </a:r>
          </a:p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愿不愿意再次使用</a:t>
            </a:r>
          </a:p>
        </p:txBody>
      </p:sp>
      <p:sp>
        <p:nvSpPr>
          <p:cNvPr id="9" name="最后验证持续付费">
            <a:extLst xmlns:a="http://schemas.openxmlformats.org/drawingml/2006/main">
              <a:ext uri="{FF2B5EF4-FFF2-40B4-BE49-F238E27FC236}">
                <a16:creationId xmlns:a16="http://schemas.microsoft.com/office/drawing/2014/main" id="{048A4EAC-FF97-4B9A-8EB4-3A7E1A0B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400" b="1">
                <a:solidFill>
                  <a:srgbClr val="D85C43"/>
                </a:solidFill>
                <a:latin typeface="Hiragino Sans GB"/>
                <a:ea typeface="Hiragino Sans GB"/>
                <a:cs typeface="Hiragino Sans GB"/>
              </a:rPr>
              <a:t>最后验证持续付费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2720E-C3FF-4C98-85AF-185FF634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219450"/>
            <a:ext cx="3333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FD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重复问询能否减少&#10;运营方是否愿意续用">
            <a:extLst xmlns:a="http://schemas.openxmlformats.org/drawingml/2006/main">
              <a:ext uri="{FF2B5EF4-FFF2-40B4-BE49-F238E27FC236}">
                <a16:creationId xmlns:a16="http://schemas.microsoft.com/office/drawing/2014/main" id="{7B0F5775-CC1E-45A5-9A13-115298E6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333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重复问询能否减少</a:t>
            </a:r>
          </a:p>
          <a:p xmlns:a="http://schemas.openxmlformats.org/drawingml/2006/main">
            <a:pPr algn="l">
              <a:def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运营方是否愿意续用</a:t>
            </a:r>
          </a:p>
        </p:txBody>
      </p:sp>
      <p:sp>
        <p:nvSpPr>
          <p:cNvPr id="12" name="入口基础：xAtom 智能硬件、灵矽、主机厂底座合作意向">
            <a:extLst xmlns:a="http://schemas.openxmlformats.org/drawingml/2006/main">
              <a:ext uri="{FF2B5EF4-FFF2-40B4-BE49-F238E27FC236}">
                <a16:creationId xmlns:a16="http://schemas.microsoft.com/office/drawing/2014/main" id="{816113C4-56CA-4FA7-9818-4F3E8521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95925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入口基础：xAtom 智能硬件、灵矽、主机厂底座合作意向</a:t>
            </a:r>
          </a:p>
        </p:txBody>
      </p:sp>
      <p:sp>
        <p:nvSpPr>
          <p:cNvPr id="13" name="团队资源由用户确认。首个声呐场所试点、合作范围与付费仍待">
            <a:extLst xmlns:a="http://schemas.openxmlformats.org/drawingml/2006/main">
              <a:ext uri="{FF2B5EF4-FFF2-40B4-BE49-F238E27FC236}">
                <a16:creationId xmlns:a16="http://schemas.microsoft.com/office/drawing/2014/main" id="{C16F8CA2-BD69-4167-B3F4-BB04A5FC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团队资源由用户确认。首个声呐场所试点、合作范围与付费仍待落实。</a:t>
            </a:r>
          </a:p>
        </p:txBody>
      </p:sp>
    </p:spTree>
    <p:extLst>
      <p:ext uri="{BB962C8B-B14F-4D97-AF65-F5344CB8AC3E}">
        <p14:creationId xmlns:p14="http://schemas.microsoft.com/office/powerpoint/2010/main" val="42127082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84BC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onar">
            <a:extLst xmlns:a="http://schemas.openxmlformats.org/drawingml/2006/main">
              <a:ext uri="{FF2B5EF4-FFF2-40B4-BE49-F238E27FC236}">
                <a16:creationId xmlns:a16="http://schemas.microsoft.com/office/drawing/2014/main" id="{24B92AF9-96CE-48B8-8860-55F173F92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"/>
            <a:ext cx="6191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defPPr>
            <a:lvl1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1pPr>
            <a:lvl2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2pPr>
            <a:lvl3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3pPr>
            <a:lvl4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4pPr>
            <a:lvl5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5pPr>
            <a:lvl6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6pPr>
            <a:lvl7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7pPr>
            <a:lvl8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8pPr>
            <a:lvl9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lvl9pPr>
          </a:lstStyle>
          <a:p xmlns:a="http://schemas.openxmlformats.org/drawingml/2006/main">
            <a:pPr algn="l">
              <a:def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defRPr>
            </a:pPr>
            <a:r>
              <a:rPr sz="7200" b="1">
                <a:solidFill>
                  <a:srgbClr val="EEF2F6"/>
                </a:solidFill>
                <a:latin typeface="Avenir Next Condensed"/>
                <a:ea typeface="Avenir Next Condensed"/>
                <a:cs typeface="Avenir Next Condensed"/>
              </a:rPr>
              <a:t>Sonar</a:t>
            </a:r>
          </a:p>
        </p:txBody>
      </p:sp>
      <p:sp>
        <p:nvSpPr>
          <p:cNvPr id="2" name="声呐">
            <a:extLst xmlns:a="http://schemas.openxmlformats.org/drawingml/2006/main">
              <a:ext uri="{FF2B5EF4-FFF2-40B4-BE49-F238E27FC236}">
                <a16:creationId xmlns:a16="http://schemas.microsoft.com/office/drawing/2014/main" id="{59E90253-96E8-4F01-943D-9FDAB605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895350"/>
            <a:ext cx="1714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0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声呐</a:t>
            </a:r>
          </a:p>
        </p:txBody>
      </p:sp>
      <p:sp>
        <p:nvSpPr>
          <p:cNvPr id="3" name="让现场的声音，&#10;找到需要它的人。">
            <a:extLst xmlns:a="http://schemas.openxmlformats.org/drawingml/2006/main">
              <a:ext uri="{FF2B5EF4-FFF2-40B4-BE49-F238E27FC236}">
                <a16:creationId xmlns:a16="http://schemas.microsoft.com/office/drawing/2014/main" id="{81F10AA7-6377-4124-939F-202A20AB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10972800" cy="1914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让现场的声音，</a:t>
            </a:r>
          </a:p>
          <a:p xmlns:a="http://schemas.openxmlformats.org/drawingml/2006/main">
            <a:pPr algn="l">
              <a:def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4500" b="1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找到需要它的人。</a:t>
            </a:r>
          </a:p>
        </p:txBody>
      </p:sp>
      <p:sp>
        <p:nvSpPr>
          <p:cNvPr id="4" name="从车内的一句需求开始，连接地点、事件与沿途服务。">
            <a:extLst xmlns:a="http://schemas.openxmlformats.org/drawingml/2006/main">
              <a:ext uri="{FF2B5EF4-FFF2-40B4-BE49-F238E27FC236}">
                <a16:creationId xmlns:a16="http://schemas.microsoft.com/office/drawing/2014/main" id="{C77C4D46-466C-4613-8820-1B3D3E79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96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250" b="0">
                <a:solidFill>
                  <a:srgbClr val="BFD8EC"/>
                </a:solidFill>
                <a:latin typeface="Hiragino Sans GB"/>
                <a:ea typeface="Hiragino Sans GB"/>
                <a:cs typeface="Hiragino Sans GB"/>
              </a:rPr>
              <a:t>从车内的一句需求开始，连接地点、事件与沿途服务。</a:t>
            </a:r>
          </a:p>
        </p:txBody>
      </p:sp>
      <p:sp>
        <p:nvSpPr>
          <p:cNvPr id="5" name="下一步：一处场所、一位运营负责人、一组参与车主。">
            <a:extLst xmlns:a="http://schemas.openxmlformats.org/drawingml/2006/main">
              <a:ext uri="{FF2B5EF4-FFF2-40B4-BE49-F238E27FC236}">
                <a16:creationId xmlns:a16="http://schemas.microsoft.com/office/drawing/2014/main" id="{B848A2BD-7764-4BCB-9FB2-F63B66BD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9728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025" b="0">
                <a:solidFill>
                  <a:srgbClr val="EEF2F6"/>
                </a:solidFill>
                <a:latin typeface="Hiragino Sans GB"/>
                <a:ea typeface="Hiragino Sans GB"/>
                <a:cs typeface="Hiragino Sans GB"/>
              </a:rPr>
              <a:t>下一步：一处场所、一位运营负责人、一组参与车主。</a:t>
            </a:r>
          </a:p>
        </p:txBody>
      </p:sp>
    </p:spTree>
    <p:extLst>
      <p:ext uri="{BB962C8B-B14F-4D97-AF65-F5344CB8AC3E}">
        <p14:creationId xmlns:p14="http://schemas.microsoft.com/office/powerpoint/2010/main" val="21599243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录：当前做到哪里">
            <a:extLst xmlns:a="http://schemas.openxmlformats.org/drawingml/2006/main">
              <a:ext uri="{FF2B5EF4-FFF2-40B4-BE49-F238E27FC236}">
                <a16:creationId xmlns:a16="http://schemas.microsoft.com/office/drawing/2014/main" id="{005654D8-E21D-4EEC-9048-C97CCAF9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附录：当前做到哪里</a:t>
            </a:r>
          </a:p>
        </p:txBody>
      </p:sp>
      <p:sp>
        <p:nvSpPr>
          <p:cNvPr id="2" name="A1">
            <a:extLst xmlns:a="http://schemas.openxmlformats.org/drawingml/2006/main">
              <a:ext uri="{FF2B5EF4-FFF2-40B4-BE49-F238E27FC236}">
                <a16:creationId xmlns:a16="http://schemas.microsoft.com/office/drawing/2014/main" id="{034D89E5-3739-409E-810F-CD65C6056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A1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EEE29-040E-483F-811C-215D4E0DDEB2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6957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667000"/>
                <a:gridCol w="4857750"/>
                <a:gridCol w="344805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范围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已有证据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下一步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后端网络能力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统一入口、授权、检索与个人任务已发布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真实业务与终端联调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Android 产品闭环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0.1.3 代码与隔离模拟器验证完成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实体手机安装与体验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真实语音与车内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不能由模拟器或后端发布替代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双人原声、车内、锁屏与固件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810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商业试点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团队有底座资源与合作意向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落实 POI、参与者与付费验证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依据 2026-10-25 SNR-001—005 与发">
            <a:extLst xmlns:a="http://schemas.openxmlformats.org/drawingml/2006/main">
              <a:ext uri="{FF2B5EF4-FFF2-40B4-BE49-F238E27FC236}">
                <a16:creationId xmlns:a16="http://schemas.microsoft.com/office/drawing/2014/main" id="{288AC5D2-9671-445A-B981-AF78CF08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依据 2026-10-25 SNR-001—005 与发布记录。本轮只制作路演材料，未部署或验收设备。</a:t>
            </a:r>
          </a:p>
        </p:txBody>
      </p:sp>
    </p:spTree>
    <p:extLst>
      <p:ext uri="{BB962C8B-B14F-4D97-AF65-F5344CB8AC3E}">
        <p14:creationId xmlns:p14="http://schemas.microsoft.com/office/powerpoint/2010/main" val="8377326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附录：审核、授权和失败怎样处理">
            <a:extLst xmlns:a="http://schemas.openxmlformats.org/drawingml/2006/main">
              <a:ext uri="{FF2B5EF4-FFF2-40B4-BE49-F238E27FC236}">
                <a16:creationId xmlns:a16="http://schemas.microsoft.com/office/drawing/2014/main" id="{FA034187-9B1F-4A68-8F78-198A1496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附录：审核、授权和失败怎样处理</a:t>
            </a:r>
          </a:p>
        </p:txBody>
      </p:sp>
      <p:sp>
        <p:nvSpPr>
          <p:cNvPr id="2" name="A2">
            <a:extLst xmlns:a="http://schemas.openxmlformats.org/drawingml/2006/main">
              <a:ext uri="{FF2B5EF4-FFF2-40B4-BE49-F238E27FC236}">
                <a16:creationId xmlns:a16="http://schemas.microsoft.com/office/drawing/2014/main" id="{1991A398-5818-439C-AEA6-EA5C5A91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A2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8AA043-E1A2-4189-8E87-E9E00AA95CE0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81153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问题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处理方式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AI 分工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LLM 整理语义；审核、邀请、收听分别做决策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权限与来源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业务规则核验身份、范围、来源与有效期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用户控制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私人查询、问人、分享、交流及收听分别授权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没有合适回应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保留等待或超时，不编造现场事实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6667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收到与解决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收到、听完和用户确认解决分别记录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完整内容审核仍需策略与评估，模型通过不等于事实核实。">
            <a:extLst xmlns:a="http://schemas.openxmlformats.org/drawingml/2006/main">
              <a:ext uri="{FF2B5EF4-FFF2-40B4-BE49-F238E27FC236}">
                <a16:creationId xmlns:a16="http://schemas.microsoft.com/office/drawing/2014/main" id="{32901906-37F3-431A-8260-A95633FA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完整内容审核仍需策略与评估，模型通过不等于事实核实。</a:t>
            </a:r>
          </a:p>
        </p:txBody>
      </p:sp>
    </p:spTree>
    <p:extLst>
      <p:ext uri="{BB962C8B-B14F-4D97-AF65-F5344CB8AC3E}">
        <p14:creationId xmlns:p14="http://schemas.microsoft.com/office/powerpoint/2010/main" val="2127155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附录：竞品比较的依据与范围">
            <a:extLst xmlns:a="http://schemas.openxmlformats.org/drawingml/2006/main">
              <a:ext uri="{FF2B5EF4-FFF2-40B4-BE49-F238E27FC236}">
                <a16:creationId xmlns:a16="http://schemas.microsoft.com/office/drawing/2014/main" id="{75265046-E787-490F-8684-096CCF0A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附录：竞品比较的依据与范围</a:t>
            </a:r>
          </a:p>
        </p:txBody>
      </p:sp>
      <p:sp>
        <p:nvSpPr>
          <p:cNvPr id="2" name="A3">
            <a:extLst xmlns:a="http://schemas.openxmlformats.org/drawingml/2006/main">
              <a:ext uri="{FF2B5EF4-FFF2-40B4-BE49-F238E27FC236}">
                <a16:creationId xmlns:a16="http://schemas.microsoft.com/office/drawing/2014/main" id="{E6C8BC22-C458-4052-80C4-9BD4F5461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A3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2E260-0EB7-4307-8E1B-CFBF253B1BA9}"/>
              </a:ext>
            </a:extLst>
          </p:cNvPr>
          <p:cNvGraphicFramePr/>
          <p:nvPr/>
        </p:nvGraphicFramePr>
        <p:xfrm>
          <a:off xmlns:a="http://schemas.openxmlformats.org/drawingml/2006/main" x="609600" y="1647825"/>
          <a:ext xmlns:a="http://schemas.openxmlformats.org/drawingml/2006/main" cx="10972800" cy="3476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05250"/>
                <a:gridCol w="7067550"/>
              </a:tblGrid>
              <a:tr h="5429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资料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可支持的结论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T w="6191">
                      <a:solidFill>
                        <a:srgbClr val="BFD8EC"/>
                      </a:solidFill>
                      <a:prstDash val="solid"/>
                    </a:lnT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BFD8EC"/>
                    </a:solidFill>
                  </a:tcPr>
                </a:tc>
              </a:tr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Zello 官方：History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公网对讲可回放、存储并异步追听，不能说对讲都没有历史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腾讯官方：Weixin &amp; WeChat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即时通讯及熟人交流是重要入口，功能也延伸到服务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高德官方：组队出行服务协议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队伍内位置共享、标记、收发信息及即时通讯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  <a:tr h="733425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高德官方：地图小程序帮助</a:t>
                      </a:r>
                    </a:p>
                  </a:txBody>
                  <a:tcPr marL="161925" marR="161925" marT="95250" marB="95250" anchor="ctr">
                    <a:lnL w="6191">
                      <a:solidFill>
                        <a:srgbClr val="BFD8EC"/>
                      </a:solidFill>
                      <a:prstDash val="solid"/>
                    </a:lnL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202C3B"/>
                          </a:solidFill>
                          <a:latin typeface="Hiragino Sans GB"/>
                          <a:ea typeface="Hiragino Sans GB"/>
                          <a:cs typeface="Hiragino Sans GB"/>
                        </a:rPr>
                        <a:t>地图群聊、共享位置与行中对讲已有组合</a:t>
                      </a:r>
                    </a:p>
                  </a:txBody>
                  <a:tcPr marL="161925" marR="161925" marT="95250" marB="95250" anchor="ctr">
                    <a:lnR w="6191">
                      <a:solidFill>
                        <a:srgbClr val="BFD8EC"/>
                      </a:solidFill>
                      <a:prstDash val="solid"/>
                    </a:lnR>
                    <a:lnB w="6191">
                      <a:solidFill>
                        <a:srgbClr val="BFD8EC"/>
                      </a:solidFill>
                      <a:prstDash val="solid"/>
                    </a:lnB>
                    <a:solidFill>
                      <a:srgbClr val="EEF2F6"/>
                    </a:solidFill>
                  </a:tcPr>
                </a:tc>
              </a:tr>
            </a:tbl>
          </a:graphicData>
        </a:graphic>
      </p:graphicFrame>
      <p:sp>
        <p:nvSpPr>
          <p:cNvPr id="4" name="差异要用完整体验验证：找消息、问现场、接回回应。">
            <a:extLst xmlns:a="http://schemas.openxmlformats.org/drawingml/2006/main">
              <a:ext uri="{FF2B5EF4-FFF2-40B4-BE49-F238E27FC236}">
                <a16:creationId xmlns:a16="http://schemas.microsoft.com/office/drawing/2014/main" id="{00B9725D-AC68-48FC-AD9B-A1077338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差异要用完整体验验证：找消息、问现场、接回回应。</a:t>
            </a:r>
          </a:p>
        </p:txBody>
      </p:sp>
      <p:sp>
        <p:nvSpPr>
          <p:cNvPr id="5" name="核对日期：2026-10-25。完整链接在演讲备注；临时">
            <a:extLst xmlns:a="http://schemas.openxmlformats.org/drawingml/2006/main">
              <a:ext uri="{FF2B5EF4-FFF2-40B4-BE49-F238E27FC236}">
                <a16:creationId xmlns:a16="http://schemas.microsoft.com/office/drawing/2014/main" id="{BA50E39A-3AB9-4F69-B2B0-2AE9D202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核对日期：2026-10-25。完整链接在演讲备注；临时聊天室各客户端入口未做完整实测。</a:t>
            </a:r>
          </a:p>
        </p:txBody>
      </p:sp>
    </p:spTree>
    <p:extLst>
      <p:ext uri="{BB962C8B-B14F-4D97-AF65-F5344CB8AC3E}">
        <p14:creationId xmlns:p14="http://schemas.microsoft.com/office/powerpoint/2010/main" val="209068170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EF2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附录：60 秒原理动画">
            <a:extLst xmlns:a="http://schemas.openxmlformats.org/drawingml/2006/main">
              <a:ext uri="{FF2B5EF4-FFF2-40B4-BE49-F238E27FC236}">
                <a16:creationId xmlns:a16="http://schemas.microsoft.com/office/drawing/2014/main" id="{8B38212A-C9EA-45FE-8BDA-966475F2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150" b="1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附录：60 秒原理动画</a:t>
            </a:r>
          </a:p>
        </p:txBody>
      </p:sp>
      <p:sp>
        <p:nvSpPr>
          <p:cNvPr id="2" name="A4">
            <a:extLst xmlns:a="http://schemas.openxmlformats.org/drawingml/2006/main">
              <a:ext uri="{FF2B5EF4-FFF2-40B4-BE49-F238E27FC236}">
                <a16:creationId xmlns:a16="http://schemas.microsoft.com/office/drawing/2014/main" id="{E1FAF8A4-AABF-45F3-BB82-F3211375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19850"/>
            <a:ext cx="495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defPPr>
            <a:lvl1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1pPr>
            <a:lvl2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2pPr>
            <a:lvl3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3pPr>
            <a:lvl4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4pPr>
            <a:lvl5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5pPr>
            <a:lvl6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6pPr>
            <a:lvl7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7pPr>
            <a:lvl8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8pPr>
            <a:lvl9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r">
              <a:defRPr sz="1200" b="0">
                <a:solidFill>
                  <a:srgbClr val="65758A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65758A"/>
                </a:solidFill>
                <a:latin typeface="Menlo"/>
                <a:ea typeface="Menlo"/>
                <a:cs typeface="Menlo"/>
              </a:rPr>
              <a:t>A4</a:t>
            </a:r>
          </a:p>
        </p:txBody>
      </p:sp>
      <p:pic>
        <p:nvPicPr>
          <p:cNvPr id="3" name="Sonar 原理动画（60秒，按右方向键播放）" descr="目标流程示意，无声字幕动画。在放映页按右方向键播放嵌入的视频。">
            <a:extLst xmlns:a="http://schemas.openxmlformats.org/drawingml/2006/main">
              <a:ext uri="{FF2B5EF4-FFF2-40B4-BE49-F238E27FC236}">
                <a16:creationId xmlns:a16="http://schemas.microsoft.com/office/drawing/2014/main" id="{2D7B255D-FF50-431D-A887-F9F5CCE0CD29}"/>
              </a:ext>
            </a:extLst>
          </p:cNvPr>
          <p:cNvPicPr>
            <a:picLocks xmlns:a="http://schemas.openxmlformats.org/drawingml/2006/main" noChangeAspect="1"/>
          </p:cNvPicPr>
          <p:nvPr>
            <ns0:videoFile xmlns:ns0="http://schemas.openxmlformats.org/drawingml/2006/main" xmlns:ns1="http://schemas.openxmlformats.org/officeDocument/2006/relationships" ns1:link="rIdSonarVideo"/>
            <p:extLst>
              <p:ext uri="{DAA4B4D4-6D71-4841-9C94-3DE7FCFB9230}">
                <p14:media xmlns:p14="http://schemas.microsoft.com/office/powerpoint/2010/main" xmlns:ns2="http://schemas.openxmlformats.org/officeDocument/2006/relationships" ns2:embed="rIdSonarMedia"/>
              </p:ext>
            </p:extLst>
          </p:nvPr>
        </p:nvPicPr>
        <p:blipFill>
          <a:blip xmlns:r="http://schemas.openxmlformats.org/officeDocument/2006/relationships" xmlns:a="http://schemas.openxmlformats.org/drawingml/2006/main" r:embed="R022b92e78f104db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38300"/>
            <a:ext cx="7620000" cy="4286250"/>
          </a:xfrm>
          <a:prstGeom xmlns:a="http://schemas.openxmlformats.org/drawingml/2006/main" prst="rect">
            <a:avLst/>
          </a:prstGeom>
        </p:spPr>
      </p:pic>
      <p:sp>
        <p:nvSpPr>
          <p:cNvPr id="4" name="按 → 键播放">
            <a:extLst xmlns:a="http://schemas.openxmlformats.org/drawingml/2006/main">
              <a:ext uri="{FF2B5EF4-FFF2-40B4-BE49-F238E27FC236}">
                <a16:creationId xmlns:a16="http://schemas.microsoft.com/office/drawing/2014/main" id="{DA47729F-4DD0-469A-B893-98966BD6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857375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325" b="1">
                <a:solidFill>
                  <a:srgbClr val="284BC1"/>
                </a:solidFill>
                <a:latin typeface="Hiragino Sans GB"/>
                <a:ea typeface="Hiragino Sans GB"/>
                <a:cs typeface="Hiragino Sans GB"/>
              </a:rPr>
              <a:t>按 → 键播放</a:t>
            </a:r>
          </a:p>
        </p:txBody>
      </p:sp>
      <p:sp>
        <p:nvSpPr>
          <p:cNvPr id="5" name="查消息&#10;按需求问人&#10;接回原声&#10;继续追问">
            <a:extLst xmlns:a="http://schemas.openxmlformats.org/drawingml/2006/main">
              <a:ext uri="{FF2B5EF4-FFF2-40B4-BE49-F238E27FC236}">
                <a16:creationId xmlns:a16="http://schemas.microsoft.com/office/drawing/2014/main" id="{0BE5F911-228F-497D-843B-C20009EC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9560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查消息</a:t>
            </a:r>
          </a:p>
          <a:p xmlns:a="http://schemas.openxmlformats.org/drawingml/2006/main">
            <a: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按需求问人</a:t>
            </a:r>
          </a:p>
          <a:p xmlns:a="http://schemas.openxmlformats.org/drawingml/2006/main">
            <a: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接回原声</a:t>
            </a:r>
          </a:p>
          <a:p xmlns:a="http://schemas.openxmlformats.org/drawingml/2006/main">
            <a:pPr algn="l">
              <a:def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2100" b="0">
                <a:solidFill>
                  <a:srgbClr val="202C3B"/>
                </a:solidFill>
                <a:latin typeface="Hiragino Sans GB"/>
                <a:ea typeface="Hiragino Sans GB"/>
                <a:cs typeface="Hiragino Sans GB"/>
              </a:rPr>
              <a:t>继续追问</a:t>
            </a:r>
          </a:p>
        </p:txBody>
      </p:sp>
      <p:sp>
        <p:nvSpPr>
          <p:cNvPr id="6" name="目标流程示意&#10;无声字幕动画">
            <a:extLst xmlns:a="http://schemas.openxmlformats.org/drawingml/2006/main">
              <a:ext uri="{FF2B5EF4-FFF2-40B4-BE49-F238E27FC236}">
                <a16:creationId xmlns:a16="http://schemas.microsoft.com/office/drawing/2014/main" id="{E81EF7FC-54A9-4FF2-A401-B3FCA399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48275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目标流程示意</a:t>
            </a:r>
          </a:p>
          <a:p xmlns:a="http://schemas.openxmlformats.org/drawingml/2006/main">
            <a:pPr algn="l">
              <a:def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无声字幕动画</a:t>
            </a:r>
          </a:p>
        </p:txBody>
      </p:sp>
      <p:sp>
        <p:nvSpPr>
          <p:cNvPr id="7" name="保留前版动画作为原理补充。主讲 12 页结束后按需播放。">
            <a:extLst xmlns:a="http://schemas.openxmlformats.org/drawingml/2006/main">
              <a:ext uri="{FF2B5EF4-FFF2-40B4-BE49-F238E27FC236}">
                <a16:creationId xmlns:a16="http://schemas.microsoft.com/office/drawing/2014/main" id="{4F2D8C9A-9418-42B8-BCB6-BD4F4AE4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39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defPPr>
            <a:lvl1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1pPr>
            <a:lvl2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2pPr>
            <a:lvl3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3pPr>
            <a:lvl4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4pPr>
            <a:lvl5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5pPr>
            <a:lvl6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6pPr>
            <a:lvl7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7pPr>
            <a:lvl8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8pPr>
            <a:lvl9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00" b="0">
                <a:solidFill>
                  <a:srgbClr val="65758A"/>
                </a:solidFill>
                <a:latin typeface="Hiragino Sans GB"/>
                <a:ea typeface="Hiragino Sans GB"/>
                <a:cs typeface="Hiragino Sans GB"/>
              </a:rPr>
              <a:t>保留前版动画作为原理补充。主讲 12 页结束后按需播放。</a:t>
            </a:r>
          </a:p>
        </p:txBody>
      </p:sp>
    </p:spTree>
    <p:extLst>
      <p:ext uri="{BB962C8B-B14F-4D97-AF65-F5344CB8AC3E}">
        <p14:creationId xmlns:p14="http://schemas.microsoft.com/office/powerpoint/2010/main" val="358806789"/>
      </p:ext>
    </p:extLst>
  </p:cSld>
  <p:timing xmlns:a="http://schemas.openxmlformats.org/drawingml/2006/main" xmlns:r="http://schemas.openxmlformats.org/officeDocument/2006/relationships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00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iragino Sans GB"/>
        <a:ea typeface=""/>
        <a:cs typeface=""/>
      </a:majorFont>
      <a:minorFont>
        <a:latin typeface="Hiragino Sans GB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2026-10-25T07:39:29.6930000Z</dcterms:created>
  <dcterms:modified xsi:type="dcterms:W3CDTF">2026-10-25T07:39:29.6930000Z</dcterms:modified>
</coreProperties>
</file>